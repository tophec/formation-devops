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Bienvenue. Ce premier module pose le cadre : pourquoi DevOps, quels principes, et comment on passe de notre socle Puppet à une organisation plus fluide. Pas de magie : des pratiques, de la mesure et des petits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Voici le fil du module. On commence par le problème, puis les principes, puis on ancre sur notre contexte Puppet, et on termine par des actions concrètes.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déclencheur du mouvement DevOps, c'est ce constat : quand la production est rare et risquée, tout le monde se protège, les conflits explosent. Les données DORA montrent l'écart entre les organisations qui ont réglé ça et les autres : des ordres de grandeur, pas des pourcentages.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DevOps n'est pas un poste à créer ni un logiciel à acheter. C'est un changement de contrat : la même équipe conçoit, déploie et exploite. On verra dans le module 11 ce que ça signifie concrètement de ne pas en faire une équipe à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CALMS est un aide-mémoire : Culture, Automation, Lean, Measurement, Sharing. Pour une équipe ops, l'Automation et le Measurement sont naturels — la Culture et le Sharing sont les vrais chantiers.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cadre des 3 voies vient de Gene Kim. Les trois prochaines slides détaillent chaque voie. C'est le cœur conceptuel du module : si l'équipe retient une chose, c'est ce triptyque.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flux, c'est le pipeline de valeur : de l'idée jusqu'en production. L'objectif n'est pas de tout faire vite n'importe comment, mais de rendre chaque étape rapide et sûre pour que les lots restent petits. Déployer souvent = déployer sans stress.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voie 2, c'est l'inverse du flux : l'information doit remonter de la production vers l'équipe aussi vite que le code y descend. Pour une équipe ops, c'est un point fort à capitaliser : vous connaissez déjà les symptômes, il faut les rendre visibles à tous.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voie 3 est la moins naturelle pour une équipe ops, qui est souvent formatée à la prudence. Le chaos engineering (faire tomber volontairement un service en conditions contrôlées) est un bon exercice d'entrée : il transforme la peur de la panne en connaissance du système.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d'ancrage pour cette équipe : votre pratique Puppet n'est pas un handicap, c'est une base. Les concepts (état désiré, idempotence, automatisation) sont exactement ceux du monde conteneur. Ce qui change : le rythme, l'immuabilité et le fait que tout passe par git. Les modules 4 à 7 vont construire cette cible.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Quatre pièges classiques quand on démarre. Le plus dangereux pour nous : recruter un « devops » ou créer une « équipe DevOps » — c'est le réflexe naturel, et c'est exactement ce qui reproduit les silos qu'on veut casser.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six pratiques seront détaillées dans les modules suivants. Pour l'instant, retenez qu'elles se renforcent : le trunk-based rend la CI utile, la CI rend le déploiement sûr, les conteneurs rendent l'IaC cohérente, etc.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DORA, c'est le référentiel le plus utilisé pour juger une équipe : fréquence de déploiement, lead time, taux d'échec, temps de récupération. Pour une équipe qui démarre, on commence souvent par mesurer le lead time et la fréquence — les deux autres suivront.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Concrètement pour nous : l'objectif n'est pas de créer une équipe « DevOps » mais de faire évoluer le rôle de l'équipe ops vers une plateforme partagée. Les feature teams restent responsables de leurs services, l'équipe plateforme fournit les rails.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même changement : avant, il coûtait des semaines et du stress ; après, il passe par le pipeline et se déroule en continu. Ce n'est pas un rêve — c'est ce que les modules suivants vont construire, étape par étape.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 actions qui ne demandent pas de réorganisation : une automatisation, un dépôt git, un pipeline minimal, un dashboard, un rituel post-incident. On peut en faire deux dans le mois qui vient sans rien casser.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Récapitulatif : cinq idées à emporter. Le reste du parcours va décliner chacune en pratique concrète.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Fermer sur une note d'ouverture : le prochain module traite des fondamentaux Linux côté ops, avec un œil sur les conteneurs.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0680" y="685800"/>
            <a:ext cx="1280160" cy="128016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6712" y="941832"/>
            <a:ext cx="768096" cy="7680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21488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— SÉRIE 1 · MODULE 1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84632" y="25146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DevOps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484632" y="251460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DevOps</a:t>
            </a:r>
            <a:endParaRPr lang="en-US" sz="5400" dirty="0"/>
          </a:p>
        </p:txBody>
      </p:sp>
      <p:sp>
        <p:nvSpPr>
          <p:cNvPr id="7" name="Text 4"/>
          <p:cNvSpPr/>
          <p:nvPr/>
        </p:nvSpPr>
        <p:spPr>
          <a:xfrm>
            <a:off x="502920" y="3611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Puppet à l'ère des conteneurs — principes, flux, mesure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502920" y="470916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22304F"/>
          </a:solidFill>
          <a:ln w="12700">
            <a:solidFill>
              <a:srgbClr val="2230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7091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Série 1 · Module 1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606040" y="470916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22304F"/>
          </a:solidFill>
          <a:ln w="12700">
            <a:solidFill>
              <a:srgbClr val="2230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606040" y="470916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: équipe ops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892040" y="470916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22304F"/>
          </a:solidFill>
          <a:ln w="12700">
            <a:solidFill>
              <a:srgbClr val="22304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92040" y="47091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 : ~45 min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— équipe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programme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04088" y="1984248"/>
            <a:ext cx="502920" cy="502920"/>
          </a:xfrm>
          <a:prstGeom prst="ellipse">
            <a:avLst/>
          </a:prstGeom>
          <a:solidFill>
            <a:srgbClr val="FDEAD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84832"/>
            <a:ext cx="301752" cy="30175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44168" y="20391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DevOps ?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22376" y="2651760"/>
            <a:ext cx="5001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coût des silos et des déploiements rares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17920" y="178308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19088" y="1984248"/>
            <a:ext cx="502920" cy="502920"/>
          </a:xfrm>
          <a:prstGeom prst="ellipse">
            <a:avLst/>
          </a:prstGeom>
          <a:solidFill>
            <a:srgbClr val="E0F2F1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2084832"/>
            <a:ext cx="301752" cy="30175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059168" y="20391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 &amp; CALMS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6437376" y="2651760"/>
            <a:ext cx="5001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qu'est DevOps — et ce qu'il n'est pas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02920" y="342900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04088" y="3630168"/>
            <a:ext cx="502920" cy="50292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730752"/>
            <a:ext cx="301752" cy="30175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344168" y="36850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3 voies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722376" y="4297680"/>
            <a:ext cx="5001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Flux, feedback, apprentissage continu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217920" y="342900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419088" y="3630168"/>
            <a:ext cx="502920" cy="502920"/>
          </a:xfrm>
          <a:prstGeom prst="ellipse">
            <a:avLst/>
          </a:prstGeom>
          <a:solidFill>
            <a:srgbClr val="FDF0DC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3730752"/>
            <a:ext cx="301752" cy="30175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059168" y="36850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Puppet au moderne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6437376" y="4297680"/>
            <a:ext cx="5001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qu'on garde, ce qu'on change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502920" y="507492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04088" y="5276088"/>
            <a:ext cx="502920" cy="502920"/>
          </a:xfrm>
          <a:prstGeom prst="ellipse">
            <a:avLst/>
          </a:prstGeom>
          <a:solidFill>
            <a:srgbClr val="FDEADD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376672"/>
            <a:ext cx="301752" cy="30175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344168" y="53309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722376" y="5943600"/>
            <a:ext cx="5001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métriques DORA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6217920" y="5074920"/>
            <a:ext cx="54406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419088" y="5276088"/>
            <a:ext cx="502920" cy="502920"/>
          </a:xfrm>
          <a:prstGeom prst="ellipse">
            <a:avLst/>
          </a:prstGeom>
          <a:solidFill>
            <a:srgbClr val="E3F4E8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9672" y="5376672"/>
            <a:ext cx="301752" cy="30175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7059168" y="53309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Premiers pas</a:t>
            </a:r>
            <a:endParaRPr lang="en-US" sz="1500" dirty="0"/>
          </a:p>
        </p:txBody>
      </p:sp>
      <p:sp>
        <p:nvSpPr>
          <p:cNvPr id="35" name="Text 27"/>
          <p:cNvSpPr/>
          <p:nvPr/>
        </p:nvSpPr>
        <p:spPr>
          <a:xfrm>
            <a:off x="6437376" y="5943600"/>
            <a:ext cx="5001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actions concrètes pour l'équipe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d'avant : des silos, des conflits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mondes qui se renvoient la responsabilité — et un coût direct sur la vélocité.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5440680" cy="2651760"/>
          </a:xfrm>
          <a:prstGeom prst="roundRect">
            <a:avLst>
              <a:gd name="adj" fmla="val 3448"/>
            </a:avLst>
          </a:prstGeom>
          <a:solidFill>
            <a:srgbClr val="FBE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2148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— organisation en silos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606040"/>
            <a:ext cx="4983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devs écrivent, les ops maintiennent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Déploiements 1 à 2 fois par an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Fenêtres de maintenance, tickets, runbooks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Ça marche chez moi » vs « c'est la prod »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440680" cy="2651760"/>
          </a:xfrm>
          <a:prstGeom prst="roundRect">
            <a:avLst>
              <a:gd name="adj" fmla="val 3448"/>
            </a:avLst>
          </a:prstGeom>
          <a:solidFill>
            <a:srgbClr val="E3F4E8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2148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 — responsabilité partagée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2606040"/>
            <a:ext cx="4983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équipe porte le service de bout en bout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Déploiements quotidiens, voire multiples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Automatisation : CI/CD, infra en code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objectif : livrer de la valeur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892040"/>
            <a:ext cx="54406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892040"/>
            <a:ext cx="64008" cy="1234440"/>
          </a:xfrm>
          <a:prstGeom prst="rect">
            <a:avLst>
              <a:gd name="adj" fmla="val 28571"/>
            </a:avLst>
          </a:prstGeom>
          <a:solidFill>
            <a:srgbClr val="EA580C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500176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208×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85800" y="573328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déploiements plus fréquents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4892040"/>
            <a:ext cx="544068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4892040"/>
            <a:ext cx="64008" cy="1234440"/>
          </a:xfrm>
          <a:prstGeom prst="rect">
            <a:avLst>
              <a:gd name="adj" fmla="val 28571"/>
            </a:avLst>
          </a:prstGeom>
          <a:solidFill>
            <a:srgbClr val="0E7C7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500176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106×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400800" y="573328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de mise en prod plus court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DORA, State of DevOps — high performers vs low performers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DevOps, c'est quoi 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11155680" cy="1965960"/>
          </a:xfrm>
          <a:prstGeom prst="roundRect">
            <a:avLst>
              <a:gd name="adj" fmla="val 4651"/>
            </a:avLst>
          </a:prstGeom>
          <a:solidFill>
            <a:srgbClr val="E7EDF7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2057400"/>
            <a:ext cx="685800" cy="6858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9456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83080" y="2148840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est une culture et un ensemble de pratiques qui unifient le développement et les opérations —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783080" y="269748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vous écrivez, vous le déployez, vous le faites tourner, vous en êtes responsables. »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783080" y="32004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frontière Dev/Ops s'efface : le cycle de vie complet d'un service appartient à une même équipe.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02920" y="4069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DevOps n'est pas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02920" y="457200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FBE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04088" y="4773168"/>
            <a:ext cx="457200" cy="45720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4864608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280160" y="4846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 métier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1280160" y="52303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le détaille plus loin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4343400" y="457200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FBE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44568" y="4773168"/>
            <a:ext cx="457200" cy="45720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8" y="486460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120640" y="4846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 outil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5120640" y="52303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le détaille plus loin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8183880" y="457200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FBE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385048" y="4773168"/>
            <a:ext cx="457200" cy="45720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6488" y="4864608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961120" y="4846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une équipe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8961120" y="52303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le détaille plus loin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CALMS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piliers pour retenir l'essentiel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2103120" cy="329184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43000" y="2148840"/>
            <a:ext cx="822960" cy="822960"/>
          </a:xfrm>
          <a:prstGeom prst="ellipse">
            <a:avLst/>
          </a:prstGeom>
          <a:solidFill>
            <a:srgbClr val="E0F2F1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286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36118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Collaboration, confiance, pas de blâme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15768" y="1828800"/>
            <a:ext cx="2103120" cy="329184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5848" y="2148840"/>
            <a:ext cx="822960" cy="822960"/>
          </a:xfrm>
          <a:prstGeom prst="ellipse">
            <a:avLst/>
          </a:prstGeom>
          <a:solidFill>
            <a:srgbClr val="FDEADD"/>
          </a:solidFill>
          <a:ln/>
        </p:spPr>
      </p:sp>
      <p:sp>
        <p:nvSpPr>
          <p:cNvPr id="13" name="Text 11"/>
          <p:cNvSpPr/>
          <p:nvPr/>
        </p:nvSpPr>
        <p:spPr>
          <a:xfrm>
            <a:off x="3355848" y="2286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852928" y="3154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36118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ce qui est répétable doit être automatisé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28616" y="1828800"/>
            <a:ext cx="2103120" cy="329184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568696" y="2148840"/>
            <a:ext cx="822960" cy="822960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18" name="Text 16"/>
          <p:cNvSpPr/>
          <p:nvPr/>
        </p:nvSpPr>
        <p:spPr>
          <a:xfrm>
            <a:off x="5568696" y="2286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065776" y="3154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111496" y="36118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Petits lots, flux tendu, zéro gaspillage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141464" y="1828800"/>
            <a:ext cx="2103120" cy="329184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781544" y="2148840"/>
            <a:ext cx="822960" cy="822960"/>
          </a:xfrm>
          <a:prstGeom prst="ellipse">
            <a:avLst/>
          </a:prstGeom>
          <a:solidFill>
            <a:srgbClr val="FDF0DC"/>
          </a:solidFill>
          <a:ln/>
        </p:spPr>
      </p:sp>
      <p:sp>
        <p:nvSpPr>
          <p:cNvPr id="23" name="Text 21"/>
          <p:cNvSpPr/>
          <p:nvPr/>
        </p:nvSpPr>
        <p:spPr>
          <a:xfrm>
            <a:off x="7781544" y="2286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278624" y="3154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324344" y="36118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pour améliorer : DORA, SLO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354312" y="1828800"/>
            <a:ext cx="2103120" cy="329184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994392" y="2148840"/>
            <a:ext cx="822960" cy="822960"/>
          </a:xfrm>
          <a:prstGeom prst="ellipse">
            <a:avLst/>
          </a:prstGeom>
          <a:solidFill>
            <a:srgbClr val="E3F4E8"/>
          </a:solidFill>
          <a:ln/>
        </p:spPr>
      </p:sp>
      <p:sp>
        <p:nvSpPr>
          <p:cNvPr id="28" name="Text 26"/>
          <p:cNvSpPr/>
          <p:nvPr/>
        </p:nvSpPr>
        <p:spPr>
          <a:xfrm>
            <a:off x="9994392" y="22860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9491472" y="3154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537192" y="36118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Responsabilités et connaissances partagées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 DE RÉFÉRENCE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3 voies (Gene Kim)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04088" y="2029968"/>
            <a:ext cx="502920" cy="502920"/>
          </a:xfrm>
          <a:prstGeom prst="ellipse">
            <a:avLst/>
          </a:prstGeom>
          <a:solidFill>
            <a:srgbClr val="E0F2F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130552"/>
            <a:ext cx="301752" cy="30175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44168" y="20848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Voie 1 — Le flux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22376" y="2697480"/>
            <a:ext cx="31272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Accélérer le passage de l'idée à la production : petits lots, déploiements fréquents, peu d'en-cours.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114800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3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13" dirty="0"/>
          </a:p>
        </p:txBody>
      </p:sp>
      <p:sp>
        <p:nvSpPr>
          <p:cNvPr id="12" name="Shape 9"/>
          <p:cNvSpPr/>
          <p:nvPr/>
        </p:nvSpPr>
        <p:spPr>
          <a:xfrm>
            <a:off x="4343400" y="182880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029968"/>
            <a:ext cx="502920" cy="502920"/>
          </a:xfrm>
          <a:prstGeom prst="ellipse">
            <a:avLst/>
          </a:prstGeom>
          <a:solidFill>
            <a:srgbClr val="FDEADD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2130552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84648" y="20848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Voie 2 — Le feedback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562856" y="2697480"/>
            <a:ext cx="31272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remonter les problèmes vite : observabilité, alertes, post-mortems sans blâme.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7955280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3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13" dirty="0"/>
          </a:p>
        </p:txBody>
      </p:sp>
      <p:sp>
        <p:nvSpPr>
          <p:cNvPr id="18" name="Shape 14"/>
          <p:cNvSpPr/>
          <p:nvPr/>
        </p:nvSpPr>
        <p:spPr>
          <a:xfrm>
            <a:off x="8183880" y="1828800"/>
            <a:ext cx="35661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85048" y="2029968"/>
            <a:ext cx="502920" cy="50292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2130552"/>
            <a:ext cx="301752" cy="30175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025128" y="20848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Voie 3 — L'apprentissage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8403336" y="2697480"/>
            <a:ext cx="31272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Expérimenter, accepter l'échec, améliorer le système en continu — culture juste.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02920" y="5120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Les trois voies » — Gene Kim, The Phoenix Project / The DevOps Handbook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502920" y="5577840"/>
            <a:ext cx="11155680" cy="731520"/>
          </a:xfrm>
          <a:prstGeom prst="roundRect">
            <a:avLst>
              <a:gd name="adj" fmla="val 12500"/>
            </a:avLst>
          </a:prstGeom>
          <a:solidFill>
            <a:srgbClr val="E7EDF7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731520" y="57607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même boussole : vitesse de livraison, fiabilité, capacité d'apprentissage.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flux : accélérer la mise en production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le temps entre l'idée et la production, sans sacrifier la fiabilité.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165860" y="2057400"/>
            <a:ext cx="502920" cy="502920"/>
          </a:xfrm>
          <a:prstGeom prst="ellipse">
            <a:avLst/>
          </a:prstGeom>
          <a:solidFill>
            <a:srgbClr val="E7EDF7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6444" y="2157984"/>
            <a:ext cx="301752" cy="30175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02920" y="2697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Idée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2377440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3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13" dirty="0"/>
          </a:p>
        </p:txBody>
      </p:sp>
      <p:sp>
        <p:nvSpPr>
          <p:cNvPr id="12" name="Shape 9"/>
          <p:cNvSpPr/>
          <p:nvPr/>
        </p:nvSpPr>
        <p:spPr>
          <a:xfrm>
            <a:off x="2715768" y="187452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78708" y="2057400"/>
            <a:ext cx="502920" cy="502920"/>
          </a:xfrm>
          <a:prstGeom prst="ellipse">
            <a:avLst/>
          </a:prstGeom>
          <a:solidFill>
            <a:srgbClr val="E7EDF7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9292" y="215798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715768" y="2697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90288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3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13" dirty="0"/>
          </a:p>
        </p:txBody>
      </p:sp>
      <p:sp>
        <p:nvSpPr>
          <p:cNvPr id="17" name="Shape 13"/>
          <p:cNvSpPr/>
          <p:nvPr/>
        </p:nvSpPr>
        <p:spPr>
          <a:xfrm>
            <a:off x="4928616" y="187452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591556" y="2057400"/>
            <a:ext cx="502920" cy="502920"/>
          </a:xfrm>
          <a:prstGeom prst="ellipse">
            <a:avLst/>
          </a:prstGeom>
          <a:solidFill>
            <a:srgbClr val="E7EDF7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140" y="2157984"/>
            <a:ext cx="301752" cy="30175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928616" y="2697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6803136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3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13" dirty="0"/>
          </a:p>
        </p:txBody>
      </p:sp>
      <p:sp>
        <p:nvSpPr>
          <p:cNvPr id="22" name="Shape 17"/>
          <p:cNvSpPr/>
          <p:nvPr/>
        </p:nvSpPr>
        <p:spPr>
          <a:xfrm>
            <a:off x="7141464" y="187452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804404" y="2057400"/>
            <a:ext cx="502920" cy="502920"/>
          </a:xfrm>
          <a:prstGeom prst="ellipse">
            <a:avLst/>
          </a:prstGeom>
          <a:solidFill>
            <a:srgbClr val="E7EDF7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4988" y="2157984"/>
            <a:ext cx="301752" cy="30175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141464" y="2697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9015984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3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13" dirty="0"/>
          </a:p>
        </p:txBody>
      </p:sp>
      <p:sp>
        <p:nvSpPr>
          <p:cNvPr id="27" name="Shape 21"/>
          <p:cNvSpPr/>
          <p:nvPr/>
        </p:nvSpPr>
        <p:spPr>
          <a:xfrm>
            <a:off x="9354312" y="187452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10017252" y="2057400"/>
            <a:ext cx="502920" cy="502920"/>
          </a:xfrm>
          <a:prstGeom prst="ellipse">
            <a:avLst/>
          </a:prstGeom>
          <a:solidFill>
            <a:srgbClr val="E7EDF7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7836" y="2157984"/>
            <a:ext cx="301752" cy="30175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9354312" y="2697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400" dirty="0"/>
          </a:p>
        </p:txBody>
      </p:sp>
      <p:sp>
        <p:nvSpPr>
          <p:cNvPr id="31" name="Text 24"/>
          <p:cNvSpPr/>
          <p:nvPr/>
        </p:nvSpPr>
        <p:spPr>
          <a:xfrm>
            <a:off x="50292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principes</a:t>
            </a:r>
            <a:endParaRPr lang="en-US" sz="1600" dirty="0"/>
          </a:p>
        </p:txBody>
      </p:sp>
      <p:sp>
        <p:nvSpPr>
          <p:cNvPr id="32" name="Shape 25"/>
          <p:cNvSpPr/>
          <p:nvPr/>
        </p:nvSpPr>
        <p:spPr>
          <a:xfrm>
            <a:off x="502920" y="406908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704088" y="4270248"/>
            <a:ext cx="502920" cy="502920"/>
          </a:xfrm>
          <a:prstGeom prst="ellipse">
            <a:avLst/>
          </a:prstGeom>
          <a:solidFill>
            <a:srgbClr val="FDEADD"/>
          </a:solidFill>
          <a:ln/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4370832"/>
            <a:ext cx="301752" cy="301752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1344168" y="43251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Petits lots</a:t>
            </a:r>
            <a:endParaRPr lang="en-US" sz="1500" dirty="0"/>
          </a:p>
        </p:txBody>
      </p:sp>
      <p:sp>
        <p:nvSpPr>
          <p:cNvPr id="36" name="Text 28"/>
          <p:cNvSpPr/>
          <p:nvPr/>
        </p:nvSpPr>
        <p:spPr>
          <a:xfrm>
            <a:off x="722376" y="4937760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changements courts et fréquents, plus faciles à relire et à débugger.</a:t>
            </a:r>
            <a:endParaRPr lang="en-US" sz="1250" dirty="0"/>
          </a:p>
        </p:txBody>
      </p:sp>
      <p:sp>
        <p:nvSpPr>
          <p:cNvPr id="37" name="Shape 29"/>
          <p:cNvSpPr/>
          <p:nvPr/>
        </p:nvSpPr>
        <p:spPr>
          <a:xfrm>
            <a:off x="4343400" y="406908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4544568" y="4270248"/>
            <a:ext cx="502920" cy="502920"/>
          </a:xfrm>
          <a:prstGeom prst="ellipse">
            <a:avLst/>
          </a:prstGeom>
          <a:solidFill>
            <a:srgbClr val="FDEADD"/>
          </a:solidFill>
          <a:ln/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5152" y="4370832"/>
            <a:ext cx="301752" cy="301752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5184648" y="43251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 limité</a:t>
            </a:r>
            <a:endParaRPr lang="en-US" sz="1500" dirty="0"/>
          </a:p>
        </p:txBody>
      </p:sp>
      <p:sp>
        <p:nvSpPr>
          <p:cNvPr id="41" name="Text 32"/>
          <p:cNvSpPr/>
          <p:nvPr/>
        </p:nvSpPr>
        <p:spPr>
          <a:xfrm>
            <a:off x="4562856" y="4937760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de choses en cours à la fois : moins de files d'attente, moins de contexte perdu.</a:t>
            </a:r>
            <a:endParaRPr lang="en-US" sz="1250" dirty="0"/>
          </a:p>
        </p:txBody>
      </p:sp>
      <p:sp>
        <p:nvSpPr>
          <p:cNvPr id="42" name="Shape 33"/>
          <p:cNvSpPr/>
          <p:nvPr/>
        </p:nvSpPr>
        <p:spPr>
          <a:xfrm>
            <a:off x="8183880" y="406908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43" name="Shape 34"/>
          <p:cNvSpPr/>
          <p:nvPr/>
        </p:nvSpPr>
        <p:spPr>
          <a:xfrm>
            <a:off x="8385048" y="4270248"/>
            <a:ext cx="502920" cy="502920"/>
          </a:xfrm>
          <a:prstGeom prst="ellipse">
            <a:avLst/>
          </a:prstGeom>
          <a:solidFill>
            <a:srgbClr val="FDEADD"/>
          </a:solidFill>
          <a:ln/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5632" y="4370832"/>
            <a:ext cx="301752" cy="301752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9025128" y="43251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Déploiements fréquents</a:t>
            </a:r>
            <a:endParaRPr lang="en-US" sz="1500" dirty="0"/>
          </a:p>
        </p:txBody>
      </p:sp>
      <p:sp>
        <p:nvSpPr>
          <p:cNvPr id="46" name="Text 36"/>
          <p:cNvSpPr/>
          <p:nvPr/>
        </p:nvSpPr>
        <p:spPr>
          <a:xfrm>
            <a:off x="8403336" y="4937760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Déployer souvent rend le déploiement banal, donc moins risqué.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feedback : remonter les problèmes vite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se passe en production doit être visible par ceux qui ont écrit le code.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23317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2011680"/>
            <a:ext cx="502920" cy="502920"/>
          </a:xfrm>
          <a:prstGeom prst="ellipse">
            <a:avLst/>
          </a:prstGeom>
          <a:solidFill>
            <a:srgbClr val="FDEAD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2112264"/>
            <a:ext cx="301752" cy="30175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0" y="21214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371600" y="24871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852928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12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12" dirty="0"/>
          </a:p>
        </p:txBody>
      </p:sp>
      <p:sp>
        <p:nvSpPr>
          <p:cNvPr id="13" name="Shape 10"/>
          <p:cNvSpPr/>
          <p:nvPr/>
        </p:nvSpPr>
        <p:spPr>
          <a:xfrm>
            <a:off x="3127248" y="1828800"/>
            <a:ext cx="23317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355848" y="2011680"/>
            <a:ext cx="502920" cy="502920"/>
          </a:xfrm>
          <a:prstGeom prst="ellipse">
            <a:avLst/>
          </a:prstGeom>
          <a:solidFill>
            <a:srgbClr val="FDEADD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2112264"/>
            <a:ext cx="301752" cy="30175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995928" y="21214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995928" y="24871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477256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12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12" dirty="0"/>
          </a:p>
        </p:txBody>
      </p:sp>
      <p:sp>
        <p:nvSpPr>
          <p:cNvPr id="19" name="Shape 15"/>
          <p:cNvSpPr/>
          <p:nvPr/>
        </p:nvSpPr>
        <p:spPr>
          <a:xfrm>
            <a:off x="5751576" y="1828800"/>
            <a:ext cx="23317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980176" y="2011680"/>
            <a:ext cx="502920" cy="502920"/>
          </a:xfrm>
          <a:prstGeom prst="ellipse">
            <a:avLst/>
          </a:prstGeom>
          <a:solidFill>
            <a:srgbClr val="FDEADD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2112264"/>
            <a:ext cx="301752" cy="30175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620256" y="21214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620256" y="24871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8101584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12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12" dirty="0"/>
          </a:p>
        </p:txBody>
      </p:sp>
      <p:sp>
        <p:nvSpPr>
          <p:cNvPr id="25" name="Shape 20"/>
          <p:cNvSpPr/>
          <p:nvPr/>
        </p:nvSpPr>
        <p:spPr>
          <a:xfrm>
            <a:off x="8375904" y="1828800"/>
            <a:ext cx="233172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604504" y="2011680"/>
            <a:ext cx="502920" cy="502920"/>
          </a:xfrm>
          <a:prstGeom prst="ellipse">
            <a:avLst/>
          </a:prstGeom>
          <a:solidFill>
            <a:srgbClr val="FDEADD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088" y="2112264"/>
            <a:ext cx="301752" cy="30175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244584" y="21214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Amélioration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9244584" y="24871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0" name="Text 24"/>
          <p:cNvSpPr/>
          <p:nvPr/>
        </p:nvSpPr>
        <p:spPr>
          <a:xfrm>
            <a:off x="502920" y="33101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boucle continue : chaque incident nourrit le prochain correctif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502920" y="384048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704088" y="4041648"/>
            <a:ext cx="502920" cy="502920"/>
          </a:xfrm>
          <a:prstGeom prst="ellipse">
            <a:avLst/>
          </a:prstGeom>
          <a:solidFill>
            <a:srgbClr val="E0F2F1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4142232"/>
            <a:ext cx="301752" cy="30175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344168" y="40965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 d'abord</a:t>
            </a:r>
            <a:endParaRPr lang="en-US" sz="1500" dirty="0"/>
          </a:p>
        </p:txBody>
      </p:sp>
      <p:sp>
        <p:nvSpPr>
          <p:cNvPr id="35" name="Text 28"/>
          <p:cNvSpPr/>
          <p:nvPr/>
        </p:nvSpPr>
        <p:spPr>
          <a:xfrm>
            <a:off x="722376" y="4709160"/>
            <a:ext cx="3127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métriques, traces : les bonnes questions doivent trouver leurs réponses sans escalade.</a:t>
            </a:r>
            <a:endParaRPr lang="en-US" sz="1250" dirty="0"/>
          </a:p>
        </p:txBody>
      </p:sp>
      <p:sp>
        <p:nvSpPr>
          <p:cNvPr id="36" name="Shape 29"/>
          <p:cNvSpPr/>
          <p:nvPr/>
        </p:nvSpPr>
        <p:spPr>
          <a:xfrm>
            <a:off x="4343400" y="384048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37" name="Shape 30"/>
          <p:cNvSpPr/>
          <p:nvPr/>
        </p:nvSpPr>
        <p:spPr>
          <a:xfrm>
            <a:off x="4544568" y="4041648"/>
            <a:ext cx="502920" cy="502920"/>
          </a:xfrm>
          <a:prstGeom prst="ellipse">
            <a:avLst/>
          </a:prstGeom>
          <a:solidFill>
            <a:srgbClr val="E0F2F1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4142232"/>
            <a:ext cx="301752" cy="301752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5184648" y="40965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utiles</a:t>
            </a:r>
            <a:endParaRPr lang="en-US" sz="1500" dirty="0"/>
          </a:p>
        </p:txBody>
      </p:sp>
      <p:sp>
        <p:nvSpPr>
          <p:cNvPr id="40" name="Text 32"/>
          <p:cNvSpPr/>
          <p:nvPr/>
        </p:nvSpPr>
        <p:spPr>
          <a:xfrm>
            <a:off x="4562856" y="4709160"/>
            <a:ext cx="3127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 d'alertes, mais fiables et actionnables — l'alerte silencieuse est une dette.</a:t>
            </a:r>
            <a:endParaRPr lang="en-US" sz="1250" dirty="0"/>
          </a:p>
        </p:txBody>
      </p:sp>
      <p:sp>
        <p:nvSpPr>
          <p:cNvPr id="41" name="Shape 33"/>
          <p:cNvSpPr/>
          <p:nvPr/>
        </p:nvSpPr>
        <p:spPr>
          <a:xfrm>
            <a:off x="8183880" y="3840480"/>
            <a:ext cx="356616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42" name="Shape 34"/>
          <p:cNvSpPr/>
          <p:nvPr/>
        </p:nvSpPr>
        <p:spPr>
          <a:xfrm>
            <a:off x="8385048" y="4041648"/>
            <a:ext cx="502920" cy="502920"/>
          </a:xfrm>
          <a:prstGeom prst="ellipse">
            <a:avLst/>
          </a:prstGeom>
          <a:solidFill>
            <a:srgbClr val="E0F2F1"/>
          </a:solidFill>
          <a:ln/>
        </p:spPr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5632" y="4142232"/>
            <a:ext cx="301752" cy="301752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9025128" y="40965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Post-mortem blameless</a:t>
            </a:r>
            <a:endParaRPr lang="en-US" sz="1500" dirty="0"/>
          </a:p>
        </p:txBody>
      </p:sp>
      <p:sp>
        <p:nvSpPr>
          <p:cNvPr id="45" name="Text 36"/>
          <p:cNvSpPr/>
          <p:nvPr/>
        </p:nvSpPr>
        <p:spPr>
          <a:xfrm>
            <a:off x="8403336" y="4709160"/>
            <a:ext cx="31272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un incident : comprendre le système, pas désigner un coupable.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L'apprentissage : expérimenter sans peur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équipe qui n'a pas le droit à l'erreur n'innove pas — elle se protège.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04088" y="2029968"/>
            <a:ext cx="502920" cy="50292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130552"/>
            <a:ext cx="301752" cy="30175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44168" y="20848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Expérimentation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2376" y="2697480"/>
            <a:ext cx="31272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des hypothèses en conditions réelles : feature flags, déploiements progressifs, A/B.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343400" y="182880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029968"/>
            <a:ext cx="502920" cy="50292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2130552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84648" y="20848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Chaos engineering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562856" y="2697480"/>
            <a:ext cx="31272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Casser volontairement en conditions contrôlées pour découvrir les faiblesses avant la panne.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8183880" y="1828800"/>
            <a:ext cx="356616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85048" y="2029968"/>
            <a:ext cx="502920" cy="502920"/>
          </a:xfrm>
          <a:prstGeom prst="ellipse">
            <a:avLst/>
          </a:prstGeom>
          <a:solidFill>
            <a:srgbClr val="EDE9FE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2130552"/>
            <a:ext cx="301752" cy="30175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025128" y="20848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Amélioration continue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403336" y="2697480"/>
            <a:ext cx="31272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Rétrospectives, kaizen : chaque itération laisse le système un peu meilleur.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02920" y="4846320"/>
            <a:ext cx="11155680" cy="1234440"/>
          </a:xfrm>
          <a:prstGeom prst="roundRect">
            <a:avLst>
              <a:gd name="adj" fmla="val 7407"/>
            </a:avLst>
          </a:prstGeom>
          <a:solidFill>
            <a:srgbClr val="E7EDF7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juste :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2606040" y="507492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erreur est d'abord une information sur le système. On corrige le processus, pas la personne — sauf faute volontaire ou négligence répétée.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POINT DE DÉPART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Puppet à l'infra moderne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ne jette rien : on déplace la rigueur existante vers de nouveaux outils.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440680" cy="3291840"/>
          </a:xfrm>
          <a:prstGeom prst="roundRect">
            <a:avLst>
              <a:gd name="adj" fmla="val 2778"/>
            </a:avLst>
          </a:prstGeom>
          <a:solidFill>
            <a:srgbClr val="FDF0D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 : Puppet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487168"/>
            <a:ext cx="4983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/ maître, pull périodique (30 min)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Manifestes déclaratifs, idempotence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en VMs, long cycle de vie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Changements planifiés (fenêtres, comités)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central, logs d'exécution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440680" cy="3291840"/>
          </a:xfrm>
          <a:prstGeom prst="roundRect">
            <a:avLst>
              <a:gd name="adj" fmla="val 2778"/>
            </a:avLst>
          </a:prstGeom>
          <a:solidFill>
            <a:srgbClr val="E0F2F1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: conteneurs + GitOps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2487168"/>
            <a:ext cx="4983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Conteneurs immuables : l'image est le binaire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: Terraform / Ansible — le git est la source de vérité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éphémère, reproductible à l'identique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continu par pipeline (CI/CD)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Déclaratif + idempotent : la logique Puppet reste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5394960"/>
            <a:ext cx="11155680" cy="868680"/>
          </a:xfrm>
          <a:prstGeom prst="roundRect">
            <a:avLst>
              <a:gd name="adj" fmla="val 10526"/>
            </a:avLst>
          </a:prstGeom>
          <a:solidFill>
            <a:srgbClr val="E7EDF7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5596128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garde la rigueur de Puppet — déclaratif, idempotence, automatisation — on gagne la vitesse, l'immuabilité et la traçabilité git.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PIÈGES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DevOps n'est pas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FBE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011680"/>
            <a:ext cx="548640" cy="54864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1214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207568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 métier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58952" y="269748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n'existe pas de « devops » isolé : c'est une culture partagée par toute l'équipe.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72200" y="178308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FBE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2011680"/>
            <a:ext cx="548640" cy="54864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12140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32320" y="207568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une équipe séparée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269748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« équipe DevOps » qui fait tout crée un nouveau silo — et un goulot.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02920" y="402336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FBE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31520" y="4251960"/>
            <a:ext cx="548640" cy="54864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36168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63040" y="43159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que des outils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758952" y="493776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Docker, Jenkins ou Ansible sans culture ni process, c'est de la dette en plus.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172200" y="4023360"/>
            <a:ext cx="5486400" cy="2011680"/>
          </a:xfrm>
          <a:prstGeom prst="roundRect">
            <a:avLst>
              <a:gd name="adj" fmla="val 4545"/>
            </a:avLst>
          </a:prstGeom>
          <a:solidFill>
            <a:srgbClr val="FBE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400800" y="4251960"/>
            <a:ext cx="548640" cy="548640"/>
          </a:xfrm>
          <a:prstGeom prst="ellipse">
            <a:avLst/>
          </a:prstGeom>
          <a:solidFill>
            <a:srgbClr val="B91C1C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4361688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32320" y="431596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l'absence de process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428232" y="493776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Automatiser suppose des process clairs. Le DevOps renforce les garde-fous, il ne les supprime pas.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BOÎTE À OUTILS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Pratiques clés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35661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04088" y="1984248"/>
            <a:ext cx="502920" cy="502920"/>
          </a:xfrm>
          <a:prstGeom prst="ellipse">
            <a:avLst/>
          </a:prstGeom>
          <a:solidFill>
            <a:srgbClr val="E7EDF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84832"/>
            <a:ext cx="301752" cy="30175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44168" y="20391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22376" y="2651760"/>
            <a:ext cx="31272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et déploiement continus : tout commit passe par le pipeline.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297680" y="1783080"/>
            <a:ext cx="35661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498848" y="1984248"/>
            <a:ext cx="502920" cy="502920"/>
          </a:xfrm>
          <a:prstGeom prst="ellipse">
            <a:avLst/>
          </a:prstGeom>
          <a:solidFill>
            <a:srgbClr val="E7EDF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084832"/>
            <a:ext cx="301752" cy="30175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38928" y="20391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Conteneurs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517136" y="2651760"/>
            <a:ext cx="31272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 standard : même runtime en dev, en test et en prod.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92440" y="1783080"/>
            <a:ext cx="35661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93608" y="1984248"/>
            <a:ext cx="502920" cy="502920"/>
          </a:xfrm>
          <a:prstGeom prst="ellipse">
            <a:avLst/>
          </a:prstGeom>
          <a:solidFill>
            <a:srgbClr val="E7EDF7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084832"/>
            <a:ext cx="301752" cy="30175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933688" y="20391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311896" y="2651760"/>
            <a:ext cx="31272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en code : versionnée, relue, reproductible.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02920" y="4023360"/>
            <a:ext cx="35661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04088" y="4224528"/>
            <a:ext cx="502920" cy="502920"/>
          </a:xfrm>
          <a:prstGeom prst="ellipse">
            <a:avLst/>
          </a:prstGeom>
          <a:solidFill>
            <a:srgbClr val="E7EDF7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25112"/>
            <a:ext cx="301752" cy="30175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344168" y="42793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722376" y="4892040"/>
            <a:ext cx="31272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Logs, métriques, traces : savoir ce qui se passe sans deviner.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297680" y="4023360"/>
            <a:ext cx="35661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498848" y="4224528"/>
            <a:ext cx="502920" cy="502920"/>
          </a:xfrm>
          <a:prstGeom prst="ellipse">
            <a:avLst/>
          </a:prstGeom>
          <a:solidFill>
            <a:srgbClr val="E7EDF7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9432" y="4325112"/>
            <a:ext cx="301752" cy="30175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138928" y="42793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Revue de code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4517136" y="4892040"/>
            <a:ext cx="31272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changement est relu — la qualité se décide avant le merge.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92440" y="4023360"/>
            <a:ext cx="35661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293608" y="4224528"/>
            <a:ext cx="502920" cy="502920"/>
          </a:xfrm>
          <a:prstGeom prst="ellipse">
            <a:avLst/>
          </a:prstGeom>
          <a:solidFill>
            <a:srgbClr val="E7EDF7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4192" y="4325112"/>
            <a:ext cx="301752" cy="30175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933688" y="42793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Trunk-based</a:t>
            </a:r>
            <a:endParaRPr lang="en-US" sz="1500" dirty="0"/>
          </a:p>
        </p:txBody>
      </p:sp>
      <p:sp>
        <p:nvSpPr>
          <p:cNvPr id="35" name="Text 27"/>
          <p:cNvSpPr/>
          <p:nvPr/>
        </p:nvSpPr>
        <p:spPr>
          <a:xfrm>
            <a:off x="8311896" y="4892040"/>
            <a:ext cx="31272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 courtes, merges fréquents, pas de branches qui vivent des semaines.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métriques DORA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performance d'une équipe se mesure, pas se devine.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267004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828800"/>
            <a:ext cx="64008" cy="2377440"/>
          </a:xfrm>
          <a:prstGeom prst="rect">
            <a:avLst>
              <a:gd name="adj" fmla="val 28571"/>
            </a:avLst>
          </a:prstGeom>
          <a:solidFill>
            <a:srgbClr val="EA580C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38528"/>
            <a:ext cx="2350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la demande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85800" y="2670048"/>
            <a:ext cx="2350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Frequency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370332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1–6 mois (low performers)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28416" y="1828800"/>
            <a:ext cx="267004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28416" y="1828800"/>
            <a:ext cx="64008" cy="2377440"/>
          </a:xfrm>
          <a:prstGeom prst="rect">
            <a:avLst>
              <a:gd name="adj" fmla="val 28571"/>
            </a:avLst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3511296" y="1938528"/>
            <a:ext cx="2350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jour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511296" y="2670048"/>
            <a:ext cx="2350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for Changes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11296" y="370332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1–6 mois (low performers)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53912" y="1828800"/>
            <a:ext cx="267004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53912" y="1828800"/>
            <a:ext cx="64008" cy="2377440"/>
          </a:xfrm>
          <a:prstGeom prst="rect">
            <a:avLst>
              <a:gd name="adj" fmla="val 28571"/>
            </a:avLst>
          </a:prstGeom>
          <a:solidFill>
            <a:srgbClr val="15803D"/>
          </a:solidFill>
          <a:ln/>
        </p:spPr>
      </p:sp>
      <p:sp>
        <p:nvSpPr>
          <p:cNvPr id="19" name="Text 17"/>
          <p:cNvSpPr/>
          <p:nvPr/>
        </p:nvSpPr>
        <p:spPr>
          <a:xfrm>
            <a:off x="6336792" y="1938528"/>
            <a:ext cx="2350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0–15 %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336792" y="2670048"/>
            <a:ext cx="2350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Failure Rate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36792" y="370332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46–60 % (low performers)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979408" y="1828800"/>
            <a:ext cx="267004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979408" y="1828800"/>
            <a:ext cx="64008" cy="2377440"/>
          </a:xfrm>
          <a:prstGeom prst="rect">
            <a:avLst>
              <a:gd name="adj" fmla="val 28571"/>
            </a:avLst>
          </a:prstGeom>
          <a:solidFill>
            <a:srgbClr val="6D28D9"/>
          </a:solidFill>
          <a:ln/>
        </p:spPr>
      </p:sp>
      <p:sp>
        <p:nvSpPr>
          <p:cNvPr id="24" name="Text 22"/>
          <p:cNvSpPr/>
          <p:nvPr/>
        </p:nvSpPr>
        <p:spPr>
          <a:xfrm>
            <a:off x="9162288" y="1938528"/>
            <a:ext cx="2350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h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162288" y="2670048"/>
            <a:ext cx="2350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— temps de récupération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162288" y="370332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plus d'une semaine (low)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452628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E7EDF7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31520" y="47548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tendre vers le profil « high performer » sur les 4 axes.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31520" y="52120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: ces métriques se lisent en tendance, pas en absolu — et elles n'ont de sens que si elles ne poussent pas l'équipe à tricher.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0292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DORA, State of DevOps — métriques standard de la performance logicielle.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&amp; structure d'équipe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5440680" cy="3383280"/>
          </a:xfrm>
          <a:prstGeom prst="roundRect">
            <a:avLst>
              <a:gd name="adj" fmla="val 2703"/>
            </a:avLst>
          </a:prstGeom>
          <a:solidFill>
            <a:srgbClr val="E3F4E8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qui marchent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487168"/>
            <a:ext cx="4983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team : une équipe outille, les autres consomment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: focus fiabilité, avec des objectifs de service (SLO)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teams autonomes : déploient leur propre code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en conseil : garde-fous, standards, accompagnement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828800"/>
            <a:ext cx="5440680" cy="3383280"/>
          </a:xfrm>
          <a:prstGeom prst="roundRect">
            <a:avLst>
              <a:gd name="adj" fmla="val 2703"/>
            </a:avLst>
          </a:prstGeom>
          <a:solidFill>
            <a:srgbClr val="FBE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4652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46520" y="2487168"/>
            <a:ext cx="4983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« équipe DevOps » séparée qui fait tout : nouveau silo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= guichet à tickets, jamais consulté en amont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Déploiements réservés à une poignée de personnes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ne mesure — on « sent » que ça va mieux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5486400"/>
            <a:ext cx="11155680" cy="731520"/>
          </a:xfrm>
          <a:prstGeom prst="roundRect">
            <a:avLst>
              <a:gd name="adj" fmla="val 12500"/>
            </a:avLst>
          </a:prstGeom>
          <a:solidFill>
            <a:srgbClr val="E7EDF7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56692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culture prime sur l'organigramme : la structure ne fait pas le DevOps, elle l'accompagne.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CONCRET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de vie d'un changement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changement, avant et après.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FBE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7240" y="2569464"/>
            <a:ext cx="292608" cy="29260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569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34440" y="25146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+ comité de validation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3191256"/>
            <a:ext cx="292608" cy="29260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191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34440" y="313639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 de maintenance réservée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3813048"/>
            <a:ext cx="292608" cy="29260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13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34440" y="37581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 exécuté à la main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77240" y="4434840"/>
            <a:ext cx="292608" cy="29260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434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34440" y="437997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manuelle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" y="5056632"/>
            <a:ext cx="292608" cy="29260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234440" y="500176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n'est réutilisable tel quel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828800"/>
            <a:ext cx="5440680" cy="3931920"/>
          </a:xfrm>
          <a:prstGeom prst="roundRect">
            <a:avLst>
              <a:gd name="adj" fmla="val 2326"/>
            </a:avLst>
          </a:prstGeom>
          <a:solidFill>
            <a:srgbClr val="E3F4E8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4652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492240" y="2569464"/>
            <a:ext cx="292608" cy="292608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2569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49440" y="251460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+ revue de code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92240" y="3191256"/>
            <a:ext cx="292608" cy="292608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0" name="Text 28"/>
          <p:cNvSpPr/>
          <p:nvPr/>
        </p:nvSpPr>
        <p:spPr>
          <a:xfrm>
            <a:off x="6492240" y="3191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49440" y="313639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: tests et builds automatiques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92240" y="3813048"/>
            <a:ext cx="292608" cy="292608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3" name="Text 31"/>
          <p:cNvSpPr/>
          <p:nvPr/>
        </p:nvSpPr>
        <p:spPr>
          <a:xfrm>
            <a:off x="6492240" y="3813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49440" y="37581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automatisé par pipeline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92240" y="4434840"/>
            <a:ext cx="292608" cy="292608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6" name="Text 34"/>
          <p:cNvSpPr/>
          <p:nvPr/>
        </p:nvSpPr>
        <p:spPr>
          <a:xfrm>
            <a:off x="6492240" y="4434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49440" y="437997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: métriques + alertes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92240" y="5056632"/>
            <a:ext cx="292608" cy="292608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9" name="Text 37"/>
          <p:cNvSpPr/>
          <p:nvPr/>
        </p:nvSpPr>
        <p:spPr>
          <a:xfrm>
            <a:off x="649224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949440" y="500176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en un clic si besoin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premiers pas pour l'équipe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48132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Concrets, mesurables, réalisables dans les prochaines semaines.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1115568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956816"/>
            <a:ext cx="402336" cy="40233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956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1865376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Automatiser un déploiement récurrent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185416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plus douloureux d'abord : celui qu'on redoute le vendredi soir.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2633472"/>
            <a:ext cx="1115568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807208"/>
            <a:ext cx="402336" cy="40233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271576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les configurations sous Git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71600" y="3035808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ce qui décrit le système versionné, avec revues obligatoires.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3483864"/>
            <a:ext cx="1115568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1520" y="3657600"/>
            <a:ext cx="402336" cy="40233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657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71600" y="35661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pipeline CI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71600" y="3886200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Gitea Actions : build + tests à chaque commit.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4334256"/>
            <a:ext cx="1115568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4507992"/>
            <a:ext cx="402336" cy="40233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4507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71600" y="441655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 minimale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71600" y="4736592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centralisés + 2-3 métriques clés + alertes.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02920" y="5184648"/>
            <a:ext cx="1115568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31520" y="5358384"/>
            <a:ext cx="402336" cy="40233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5358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371600" y="526694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Post-mortem blameless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371600" y="5586984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chaque incident : chronologie, causes, actions — sans coupable.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02920" y="6035040"/>
            <a:ext cx="11155680" cy="384048"/>
          </a:xfrm>
          <a:prstGeom prst="roundRect">
            <a:avLst>
              <a:gd name="adj" fmla="val 23810"/>
            </a:avLst>
          </a:prstGeom>
          <a:solidFill>
            <a:srgbClr val="E7EDF7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38100" dir="5400000">
              <a:srgbClr val="1B2A4A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31520" y="610819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Commencez petit, mesurez, itérez.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RÉSUMÉ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84632" y="82296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clés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039112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890" y="2115922"/>
            <a:ext cx="230429" cy="23042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96596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est une culture et des pratiques — pas un outil, pas un poste.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278892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890" y="2865730"/>
            <a:ext cx="230429" cy="23042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715768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3 voies : flux (vite en prod), feedback (visible depuis la prod), apprentissage.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640080" y="3538728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890" y="3615538"/>
            <a:ext cx="230429" cy="230429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46557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atout : la rigueur Puppet (déclaratif, idempotent) se transpose au monde conteneur.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640080" y="428853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890" y="4365346"/>
            <a:ext cx="230429" cy="230429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215384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mesure avec les 4 métriques DORA : fréquence, lead time, échecs, récupération.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40080" y="5038344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90" y="5115154"/>
            <a:ext cx="230429" cy="230429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34440" y="4965192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changement se fait par petits pas concrets, mesurés, sans réorganiser l'équipe.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502920" y="6528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· Module 1 — Culture DevOps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0680" y="1097280"/>
            <a:ext cx="1280160" cy="128016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96712" y="1353312"/>
            <a:ext cx="768096" cy="7680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84632" y="27432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502920" y="37490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 module : Linux &amp; shell pour ops — systemd, journald, réseau, conteneurs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02920" y="457200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0292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DevOps — équipe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— Culture DevOps</dc:title>
  <dc:subject>Formation DevOps</dc:subject>
  <dc:creator>Formation DevOps</dc:creator>
  <cp:lastModifiedBy>Formation DevOps</cp:lastModifiedBy>
  <cp:revision>1</cp:revision>
  <dcterms:created xsi:type="dcterms:W3CDTF">2026-08-06T11:30:59Z</dcterms:created>
  <dcterms:modified xsi:type="dcterms:W3CDTF">2026-08-06T11:30:59Z</dcterms:modified>
</cp:coreProperties>
</file>