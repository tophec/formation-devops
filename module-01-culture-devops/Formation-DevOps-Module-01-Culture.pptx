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Bienvenue. Ce premier module pose le cadre : pourquoi DevOps, quels principes, et comment on passe de notre socle Puppet à une organisation plus fluide.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Voici le fil du module. On commence par le problème, puis les principes, puis on ancre sur notre contexte Puppet, et on termine par des actions concrètes.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déclencheur du mouvement DevOps : quand la production est rare et risquée, tout le monde se protège. Les données DORA montrent l'écart : des ordres de grandeur, pas des pourcentages.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DevOps n'est pas un poste à créer ni un logiciel à acheter. C'est un changement de contrat : la même équipe conçoit, déploie et exploite.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CALMS : Culture, Automation, Lean, Measurement, Sharing. Pour une équipe ops, l'Automation et le Measurement sont naturels — la Culture et le Sharing sont les vrais chantiers.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cadre des 3 voies vient de Gene Kim. C'est le cœur conceptuel : flux, feedback, apprentissage.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flux = le pipeline de valeur. L'objectif : rendre chaque étape rapide et sûre pour que les lots restent petits. Déployer souvent = déployer sans stress.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voie 2 : l'information doit remonter de la production vers l'équipe aussi vite que le code y descend. Pour une équipe ops, c'est un point fort à capitaliser.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voie 3 est la moins naturelle pour une équipe ops, souvent formatée à la prudence. Le chaos engineering est un bon exercice d'entrée.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d'ancrage : votre pratique Puppet n'est pas un handicap, c'est une base. Les concepts (état désiré, idempotence) sont exactement ceux du monde conteneur.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Quatre pièges classiques. Le plus dangereux : recruter un « devops » ou créer une « équipe DevOps » — c'est exactement ce qui reproduit les silos.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six pratiques se renforcent : le trunk-based rend la CI utile, la CI rend le déploiement sûr, les conteneurs rendent l'IaC cohérente.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DORA : fréquence de déploiement, lead time, taux d'échec, temps de récupération. Pour une équipe qui démarre, on commence par le lead time et la fréquence.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Concrètement : l'objectif n'est pas de créer une équipe « DevOps » mais de faire évoluer le rôle ops vers une plateforme partagée.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même changement : avant, il coûtait des semaines et du stress ; après, il passe par le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 actions sans réorganisation : une automatisation, un dépôt git, un pipeline minimal, un dashboard, un rituel post-incident.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Récapitulatif : cinq idées à emporter.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Fermer sur une note d'ouverture vers le prochain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"/>
            <a:ext cx="1216152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Shape 2"/>
          <p:cNvSpPr/>
          <p:nvPr/>
        </p:nvSpPr>
        <p:spPr>
          <a:xfrm>
            <a:off x="5440680" y="1097280"/>
            <a:ext cx="1280160" cy="1280160"/>
          </a:xfrm>
          <a:prstGeom prst="ellipse">
            <a:avLst/>
          </a:prstGeom>
          <a:solidFill>
            <a:srgbClr val="EFF6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6712" y="1353312"/>
            <a:ext cx="768096" cy="7680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30175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— SÉRIE 1 · MODULE 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14400" y="34747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DevOps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914400" y="4480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Puppet à l'ère des conteneurs — principes, flux, mesure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914400" y="5303520"/>
            <a:ext cx="1801368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5303520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Série 1 · Module 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898648" y="5303520"/>
            <a:ext cx="1883664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898648" y="5303520"/>
            <a:ext cx="1883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: équipe ops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965192" y="530352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65192" y="53035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 : ~45 min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2920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338560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"/>
            <a:ext cx="1216152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858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4632" y="96012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programme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21488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04088" y="2350008"/>
            <a:ext cx="502920" cy="502920"/>
          </a:xfrm>
          <a:prstGeom prst="ellipse">
            <a:avLst/>
          </a:prstGeom>
          <a:solidFill>
            <a:srgbClr val="FFF7ED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450592"/>
            <a:ext cx="301752" cy="30175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44168" y="24048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DevOps ?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22376" y="3017520"/>
            <a:ext cx="5001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coût des silos et des déploiements rares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217920" y="21488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19088" y="2350008"/>
            <a:ext cx="502920" cy="50292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2450592"/>
            <a:ext cx="301752" cy="30175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059168" y="24048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 &amp; CALMS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437376" y="3017520"/>
            <a:ext cx="5001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qu'est DevOps — et ce qu'il n'est pas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502920" y="379476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04088" y="3995928"/>
            <a:ext cx="502920" cy="502920"/>
          </a:xfrm>
          <a:prstGeom prst="ellipse">
            <a:avLst/>
          </a:prstGeom>
          <a:solidFill>
            <a:srgbClr val="F5F3FF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4096512"/>
            <a:ext cx="301752" cy="30175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344168" y="405079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3 voies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722376" y="4663440"/>
            <a:ext cx="5001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Flux, feedback, apprentissage continu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217920" y="379476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19088" y="3995928"/>
            <a:ext cx="502920" cy="502920"/>
          </a:xfrm>
          <a:prstGeom prst="ellipse">
            <a:avLst/>
          </a:prstGeom>
          <a:solidFill>
            <a:srgbClr val="FFFBEB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9672" y="4096512"/>
            <a:ext cx="301752" cy="30175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059168" y="405079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Puppet au moderne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6437376" y="4663440"/>
            <a:ext cx="5001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garde, ce qu'on change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502920" y="544068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04088" y="5641848"/>
            <a:ext cx="502920" cy="502920"/>
          </a:xfrm>
          <a:prstGeom prst="ellipse">
            <a:avLst/>
          </a:prstGeom>
          <a:solidFill>
            <a:srgbClr val="FFF7ED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742432"/>
            <a:ext cx="301752" cy="30175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344168" y="56967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</a:t>
            </a:r>
            <a:endParaRPr lang="en-US" sz="1500" dirty="0"/>
          </a:p>
        </p:txBody>
      </p:sp>
      <p:sp>
        <p:nvSpPr>
          <p:cNvPr id="32" name="Text 25"/>
          <p:cNvSpPr/>
          <p:nvPr/>
        </p:nvSpPr>
        <p:spPr>
          <a:xfrm>
            <a:off x="722376" y="6309360"/>
            <a:ext cx="5001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4 métriques DORA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6217920" y="544068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419088" y="5641848"/>
            <a:ext cx="502920" cy="502920"/>
          </a:xfrm>
          <a:prstGeom prst="ellipse">
            <a:avLst/>
          </a:prstGeom>
          <a:solidFill>
            <a:srgbClr val="F0FDF4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9672" y="5742432"/>
            <a:ext cx="301752" cy="301752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7059168" y="56967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Premiers pas</a:t>
            </a:r>
            <a:endParaRPr lang="en-US" sz="1500" dirty="0"/>
          </a:p>
        </p:txBody>
      </p:sp>
      <p:sp>
        <p:nvSpPr>
          <p:cNvPr id="37" name="Text 29"/>
          <p:cNvSpPr/>
          <p:nvPr/>
        </p:nvSpPr>
        <p:spPr>
          <a:xfrm>
            <a:off x="6437376" y="6309360"/>
            <a:ext cx="5001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actions concrètes pour l'équipe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"/>
            <a:ext cx="1216152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858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4632" y="96012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d'avant : des silos, des conflits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1691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mondes qui se renvoient la responsabilité — et un coût direct sur la vélocité.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965960"/>
            <a:ext cx="5440680" cy="2651760"/>
          </a:xfrm>
          <a:prstGeom prst="roundRect">
            <a:avLst>
              <a:gd name="adj" fmla="val 4138"/>
            </a:avLst>
          </a:prstGeom>
          <a:solidFill>
            <a:srgbClr val="FEF2F2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148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— organisation en silos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2606040"/>
            <a:ext cx="4983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devs écrivent, les ops maintiennent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Déploiements 1 à 2 fois par an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Fenêtres de maintenance, tickets, runbooks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Ça marche chez moi » vs « c'est la prod »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965960"/>
            <a:ext cx="5440680" cy="2651760"/>
          </a:xfrm>
          <a:prstGeom prst="roundRect">
            <a:avLst>
              <a:gd name="adj" fmla="val 4138"/>
            </a:avLst>
          </a:prstGeom>
          <a:solidFill>
            <a:srgbClr val="F0FDF4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46520" y="2148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 — responsabilité partagée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46520" y="2606040"/>
            <a:ext cx="4983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équipe porte le service de bout en bout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Déploiements quotidiens, voire multiples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 : CI/CD, infra en code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même objectif : livrer de la valeur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4892040"/>
            <a:ext cx="54406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2920" y="4892040"/>
            <a:ext cx="64008" cy="1234440"/>
          </a:xfrm>
          <a:prstGeom prst="rect">
            <a:avLst>
              <a:gd name="adj" fmla="val 28571"/>
            </a:avLst>
          </a:prstGeom>
          <a:solidFill>
            <a:srgbClr val="EA580C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500176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208×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85800" y="569671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déploiements plus fréquents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4892040"/>
            <a:ext cx="54406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4892040"/>
            <a:ext cx="64008" cy="1234440"/>
          </a:xfrm>
          <a:prstGeom prst="rect">
            <a:avLst>
              <a:gd name="adj" fmla="val 28571"/>
            </a:avLst>
          </a:prstGeom>
          <a:solidFill>
            <a:srgbClr val="0D9488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500176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106×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400800" y="569671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de mise en prod plus court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DORA, State of DevOps — high performers vs low performers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"/>
            <a:ext cx="1216152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858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4632" y="96012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DevOps, c'est quoi ?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1920240"/>
            <a:ext cx="11155680" cy="1965960"/>
          </a:xfrm>
          <a:prstGeom prst="roundRect">
            <a:avLst>
              <a:gd name="adj" fmla="val 558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2194560"/>
            <a:ext cx="685800" cy="68580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331720"/>
            <a:ext cx="411480" cy="4114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783080" y="2286000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est une culture et un ensemble de pratiques qui unifient le développement et les opérations —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1783080" y="283464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vous écrivez, vous le déployez, vous le faites tourner, vous en êtes responsables. »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783080" y="33375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frontière Dev/Ops s'efface : le cycle de vie complet d'un service appartient à une même équipe.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502920" y="4206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DevOps n'est pas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02920" y="47091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EF2F2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04088" y="4910328"/>
            <a:ext cx="457200" cy="45720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5001768"/>
            <a:ext cx="274320" cy="2743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280160" y="4983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un métier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280160" y="536752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le détaille plus loin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4343400" y="47091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EF2F2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544568" y="4910328"/>
            <a:ext cx="457200" cy="45720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8" y="5001768"/>
            <a:ext cx="274320" cy="27432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120640" y="4983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un outil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5120640" y="536752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le détaille plus loin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8183880" y="47091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EF2F2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385048" y="4910328"/>
            <a:ext cx="457200" cy="45720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6488" y="5001768"/>
            <a:ext cx="274320" cy="27432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8961120" y="4983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une équipe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8961120" y="536752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le détaille plus loin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"/>
            <a:ext cx="1216152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858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CALMS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4632" y="96012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piliers pour retenir l'essentiel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2103120" cy="329184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43000" y="2423160"/>
            <a:ext cx="822960" cy="822960"/>
          </a:xfrm>
          <a:prstGeom prst="ellipse">
            <a:avLst/>
          </a:prstGeom>
          <a:solidFill>
            <a:srgbClr val="CCFBF1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5603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40080" y="3429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" y="388620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Collaboration, confiance, pas de blâme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715768" y="2103120"/>
            <a:ext cx="2103120" cy="329184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55848" y="2423160"/>
            <a:ext cx="822960" cy="822960"/>
          </a:xfrm>
          <a:prstGeom prst="ellipse">
            <a:avLst/>
          </a:prstGeom>
          <a:solidFill>
            <a:srgbClr val="FFF7ED"/>
          </a:solidFill>
          <a:ln/>
        </p:spPr>
      </p:sp>
      <p:sp>
        <p:nvSpPr>
          <p:cNvPr id="15" name="Text 13"/>
          <p:cNvSpPr/>
          <p:nvPr/>
        </p:nvSpPr>
        <p:spPr>
          <a:xfrm>
            <a:off x="3355848" y="25603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2852928" y="3429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898648" y="388620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ce qui est répétable doit être automatisé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928616" y="2103120"/>
            <a:ext cx="2103120" cy="329184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568696" y="2423160"/>
            <a:ext cx="822960" cy="822960"/>
          </a:xfrm>
          <a:prstGeom prst="ellipse">
            <a:avLst/>
          </a:prstGeom>
          <a:solidFill>
            <a:srgbClr val="F5F3FF"/>
          </a:solidFill>
          <a:ln/>
        </p:spPr>
      </p:sp>
      <p:sp>
        <p:nvSpPr>
          <p:cNvPr id="20" name="Text 18"/>
          <p:cNvSpPr/>
          <p:nvPr/>
        </p:nvSpPr>
        <p:spPr>
          <a:xfrm>
            <a:off x="5568696" y="25603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065776" y="3429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111496" y="388620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Petits lots, flux tendu, zéro gaspillage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141464" y="2103120"/>
            <a:ext cx="2103120" cy="329184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81544" y="2423160"/>
            <a:ext cx="822960" cy="822960"/>
          </a:xfrm>
          <a:prstGeom prst="ellipse">
            <a:avLst/>
          </a:prstGeom>
          <a:solidFill>
            <a:srgbClr val="FFFBEB"/>
          </a:solidFill>
          <a:ln/>
        </p:spPr>
      </p:sp>
      <p:sp>
        <p:nvSpPr>
          <p:cNvPr id="25" name="Text 23"/>
          <p:cNvSpPr/>
          <p:nvPr/>
        </p:nvSpPr>
        <p:spPr>
          <a:xfrm>
            <a:off x="7781544" y="25603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278624" y="3429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324344" y="388620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 pour améliorer : DORA, SLO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354312" y="2103120"/>
            <a:ext cx="2103120" cy="329184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994392" y="2423160"/>
            <a:ext cx="822960" cy="822960"/>
          </a:xfrm>
          <a:prstGeom prst="ellipse">
            <a:avLst/>
          </a:prstGeom>
          <a:solidFill>
            <a:srgbClr val="F0FDF4"/>
          </a:solidFill>
          <a:ln/>
        </p:spPr>
      </p:sp>
      <p:sp>
        <p:nvSpPr>
          <p:cNvPr id="30" name="Text 28"/>
          <p:cNvSpPr/>
          <p:nvPr/>
        </p:nvSpPr>
        <p:spPr>
          <a:xfrm>
            <a:off x="9994392" y="25603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9491472" y="3429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537192" y="388620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Responsabilités et connaissances partagées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"/>
            <a:ext cx="1216152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858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CADRE DE RÉFÉRENCE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4632" y="96012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3 voies (Gene Kim)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19202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04088" y="2121408"/>
            <a:ext cx="502920" cy="50292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221992"/>
            <a:ext cx="301752" cy="30175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44168" y="21762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Voie 1 — Le flux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22376" y="2788920"/>
            <a:ext cx="31272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Accélérer le passage de l'idée à la production : petits lots, déploiements fréquents, peu d'en-cours.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114800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3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13" dirty="0"/>
          </a:p>
        </p:txBody>
      </p:sp>
      <p:sp>
        <p:nvSpPr>
          <p:cNvPr id="14" name="Shape 11"/>
          <p:cNvSpPr/>
          <p:nvPr/>
        </p:nvSpPr>
        <p:spPr>
          <a:xfrm>
            <a:off x="4343400" y="19202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44568" y="2121408"/>
            <a:ext cx="502920" cy="502920"/>
          </a:xfrm>
          <a:prstGeom prst="ellipse">
            <a:avLst/>
          </a:prstGeom>
          <a:solidFill>
            <a:srgbClr val="FFF7ED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152" y="2221992"/>
            <a:ext cx="301752" cy="30175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184648" y="21762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Voie 2 — Le feedback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4562856" y="2788920"/>
            <a:ext cx="31272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 remonter les problèmes vite : observabilité, alertes, post-mortems sans blâme.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7955280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3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13" dirty="0"/>
          </a:p>
        </p:txBody>
      </p:sp>
      <p:sp>
        <p:nvSpPr>
          <p:cNvPr id="20" name="Shape 16"/>
          <p:cNvSpPr/>
          <p:nvPr/>
        </p:nvSpPr>
        <p:spPr>
          <a:xfrm>
            <a:off x="8183880" y="19202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385048" y="2121408"/>
            <a:ext cx="502920" cy="502920"/>
          </a:xfrm>
          <a:prstGeom prst="ellipse">
            <a:avLst/>
          </a:prstGeom>
          <a:solidFill>
            <a:srgbClr val="F5F3FF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2221992"/>
            <a:ext cx="301752" cy="30175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025128" y="21762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Voie 3 — L'apprentissage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8403336" y="2788920"/>
            <a:ext cx="31272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Expérimenter, accepter l'échec, améliorer le système en continu — culture juste.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502920" y="5212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Les trois voies » — Gene Kim, The Phoenix Project / The DevOps Handbook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502920" y="5669280"/>
            <a:ext cx="11155680" cy="731520"/>
          </a:xfrm>
          <a:prstGeom prst="roundRect">
            <a:avLst>
              <a:gd name="adj" fmla="val 15000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731520" y="5852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même boussole : vitesse de livraison, fiabilité, capacité d'apprentissage.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"/>
            <a:ext cx="1216152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858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VOIE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4632" y="96012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flux : accélérer la mise en production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1691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le temps entre l'idée et la production, sans sacrifier la fiabilité.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219456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5860" y="2377440"/>
            <a:ext cx="502920" cy="502920"/>
          </a:xfrm>
          <a:prstGeom prst="ellipse">
            <a:avLst/>
          </a:prstGeom>
          <a:solidFill>
            <a:srgbClr val="EFF6FF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6444" y="2478024"/>
            <a:ext cx="301752" cy="30175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02920" y="3017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Idée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2377440" y="2606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3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13" dirty="0"/>
          </a:p>
        </p:txBody>
      </p:sp>
      <p:sp>
        <p:nvSpPr>
          <p:cNvPr id="14" name="Shape 11"/>
          <p:cNvSpPr/>
          <p:nvPr/>
        </p:nvSpPr>
        <p:spPr>
          <a:xfrm>
            <a:off x="2715768" y="219456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378708" y="2377440"/>
            <a:ext cx="502920" cy="502920"/>
          </a:xfrm>
          <a:prstGeom prst="ellipse">
            <a:avLst/>
          </a:prstGeom>
          <a:solidFill>
            <a:srgbClr val="EFF6F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292" y="2478024"/>
            <a:ext cx="301752" cy="30175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715768" y="3017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4590288" y="2606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3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13" dirty="0"/>
          </a:p>
        </p:txBody>
      </p:sp>
      <p:sp>
        <p:nvSpPr>
          <p:cNvPr id="19" name="Shape 15"/>
          <p:cNvSpPr/>
          <p:nvPr/>
        </p:nvSpPr>
        <p:spPr>
          <a:xfrm>
            <a:off x="4928616" y="219456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591556" y="2377440"/>
            <a:ext cx="502920" cy="502920"/>
          </a:xfrm>
          <a:prstGeom prst="ellipse">
            <a:avLst/>
          </a:prstGeom>
          <a:solidFill>
            <a:srgbClr val="EFF6FF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2140" y="2478024"/>
            <a:ext cx="301752" cy="30175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928616" y="3017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6803136" y="2606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3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13" dirty="0"/>
          </a:p>
        </p:txBody>
      </p:sp>
      <p:sp>
        <p:nvSpPr>
          <p:cNvPr id="24" name="Shape 19"/>
          <p:cNvSpPr/>
          <p:nvPr/>
        </p:nvSpPr>
        <p:spPr>
          <a:xfrm>
            <a:off x="7141464" y="219456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7804404" y="2377440"/>
            <a:ext cx="502920" cy="502920"/>
          </a:xfrm>
          <a:prstGeom prst="ellipse">
            <a:avLst/>
          </a:prstGeom>
          <a:solidFill>
            <a:srgbClr val="EFF6F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4988" y="2478024"/>
            <a:ext cx="301752" cy="30175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141464" y="3017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9015984" y="2606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3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13" dirty="0"/>
          </a:p>
        </p:txBody>
      </p:sp>
      <p:sp>
        <p:nvSpPr>
          <p:cNvPr id="29" name="Shape 23"/>
          <p:cNvSpPr/>
          <p:nvPr/>
        </p:nvSpPr>
        <p:spPr>
          <a:xfrm>
            <a:off x="9354312" y="219456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10017252" y="2377440"/>
            <a:ext cx="502920" cy="502920"/>
          </a:xfrm>
          <a:prstGeom prst="ellipse">
            <a:avLst/>
          </a:prstGeom>
          <a:solidFill>
            <a:srgbClr val="EFF6FF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7836" y="2478024"/>
            <a:ext cx="301752" cy="30175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9354312" y="3017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400" dirty="0"/>
          </a:p>
        </p:txBody>
      </p:sp>
      <p:sp>
        <p:nvSpPr>
          <p:cNvPr id="33" name="Text 26"/>
          <p:cNvSpPr/>
          <p:nvPr/>
        </p:nvSpPr>
        <p:spPr>
          <a:xfrm>
            <a:off x="50292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principes</a:t>
            </a:r>
            <a:endParaRPr lang="en-US" sz="1600" dirty="0"/>
          </a:p>
        </p:txBody>
      </p:sp>
      <p:sp>
        <p:nvSpPr>
          <p:cNvPr id="34" name="Shape 27"/>
          <p:cNvSpPr/>
          <p:nvPr/>
        </p:nvSpPr>
        <p:spPr>
          <a:xfrm>
            <a:off x="502920" y="4389120"/>
            <a:ext cx="3566160" cy="1691640"/>
          </a:xfrm>
          <a:prstGeom prst="roundRect">
            <a:avLst>
              <a:gd name="adj" fmla="val 6486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704088" y="4590288"/>
            <a:ext cx="502920" cy="502920"/>
          </a:xfrm>
          <a:prstGeom prst="ellipse">
            <a:avLst/>
          </a:prstGeom>
          <a:solidFill>
            <a:srgbClr val="FFF7ED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" y="4690872"/>
            <a:ext cx="301752" cy="30175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344168" y="46451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Petits lots</a:t>
            </a:r>
            <a:endParaRPr lang="en-US" sz="1500" dirty="0"/>
          </a:p>
        </p:txBody>
      </p:sp>
      <p:sp>
        <p:nvSpPr>
          <p:cNvPr id="38" name="Text 30"/>
          <p:cNvSpPr/>
          <p:nvPr/>
        </p:nvSpPr>
        <p:spPr>
          <a:xfrm>
            <a:off x="722376" y="5257800"/>
            <a:ext cx="3127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changements courts et fréquents, plus faciles à relire et à débugger.</a:t>
            </a:r>
            <a:endParaRPr lang="en-US" sz="1250" dirty="0"/>
          </a:p>
        </p:txBody>
      </p:sp>
      <p:sp>
        <p:nvSpPr>
          <p:cNvPr id="39" name="Shape 31"/>
          <p:cNvSpPr/>
          <p:nvPr/>
        </p:nvSpPr>
        <p:spPr>
          <a:xfrm>
            <a:off x="4343400" y="4389120"/>
            <a:ext cx="3566160" cy="1691640"/>
          </a:xfrm>
          <a:prstGeom prst="roundRect">
            <a:avLst>
              <a:gd name="adj" fmla="val 6486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40" name="Shape 32"/>
          <p:cNvSpPr/>
          <p:nvPr/>
        </p:nvSpPr>
        <p:spPr>
          <a:xfrm>
            <a:off x="4544568" y="4590288"/>
            <a:ext cx="502920" cy="502920"/>
          </a:xfrm>
          <a:prstGeom prst="ellipse">
            <a:avLst/>
          </a:prstGeom>
          <a:solidFill>
            <a:srgbClr val="FFF7ED"/>
          </a:solidFill>
          <a:ln/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5152" y="4690872"/>
            <a:ext cx="301752" cy="301752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5184648" y="46451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 limité</a:t>
            </a:r>
            <a:endParaRPr lang="en-US" sz="1500" dirty="0"/>
          </a:p>
        </p:txBody>
      </p:sp>
      <p:sp>
        <p:nvSpPr>
          <p:cNvPr id="43" name="Text 34"/>
          <p:cNvSpPr/>
          <p:nvPr/>
        </p:nvSpPr>
        <p:spPr>
          <a:xfrm>
            <a:off x="4562856" y="5257800"/>
            <a:ext cx="3127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 de choses en cours à la fois : moins de files d'attente, moins de contexte perdu.</a:t>
            </a:r>
            <a:endParaRPr lang="en-US" sz="1250" dirty="0"/>
          </a:p>
        </p:txBody>
      </p:sp>
      <p:sp>
        <p:nvSpPr>
          <p:cNvPr id="44" name="Shape 35"/>
          <p:cNvSpPr/>
          <p:nvPr/>
        </p:nvSpPr>
        <p:spPr>
          <a:xfrm>
            <a:off x="8183880" y="4389120"/>
            <a:ext cx="3566160" cy="1691640"/>
          </a:xfrm>
          <a:prstGeom prst="roundRect">
            <a:avLst>
              <a:gd name="adj" fmla="val 6486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45" name="Shape 36"/>
          <p:cNvSpPr/>
          <p:nvPr/>
        </p:nvSpPr>
        <p:spPr>
          <a:xfrm>
            <a:off x="8385048" y="4590288"/>
            <a:ext cx="502920" cy="502920"/>
          </a:xfrm>
          <a:prstGeom prst="ellipse">
            <a:avLst/>
          </a:prstGeom>
          <a:solidFill>
            <a:srgbClr val="FFF7ED"/>
          </a:solidFill>
          <a:ln/>
        </p:spPr>
      </p:sp>
      <p:pic>
        <p:nvPicPr>
          <p:cNvPr id="4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5632" y="4690872"/>
            <a:ext cx="301752" cy="301752"/>
          </a:xfrm>
          <a:prstGeom prst="rect">
            <a:avLst/>
          </a:prstGeom>
        </p:spPr>
      </p:pic>
      <p:sp>
        <p:nvSpPr>
          <p:cNvPr id="47" name="Text 37"/>
          <p:cNvSpPr/>
          <p:nvPr/>
        </p:nvSpPr>
        <p:spPr>
          <a:xfrm>
            <a:off x="9025128" y="46451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Déploiements fréquents</a:t>
            </a:r>
            <a:endParaRPr lang="en-US" sz="1500" dirty="0"/>
          </a:p>
        </p:txBody>
      </p:sp>
      <p:sp>
        <p:nvSpPr>
          <p:cNvPr id="48" name="Text 38"/>
          <p:cNvSpPr/>
          <p:nvPr/>
        </p:nvSpPr>
        <p:spPr>
          <a:xfrm>
            <a:off x="8403336" y="5257800"/>
            <a:ext cx="3127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Déployer souvent rend le déploiement banal, donc moins risqué.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"/>
            <a:ext cx="1216152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858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VOIE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4632" y="96012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feedback : remonter les problèmes vite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1691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se passe en production doit être visible par ceux qui ont écrit le code.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2148840"/>
            <a:ext cx="233172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331720"/>
            <a:ext cx="502920" cy="502920"/>
          </a:xfrm>
          <a:prstGeom prst="ellipse">
            <a:avLst/>
          </a:prstGeom>
          <a:solidFill>
            <a:srgbClr val="FFF7ED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432304"/>
            <a:ext cx="301752" cy="30175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371600" y="2441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2852928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12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12" dirty="0"/>
          </a:p>
        </p:txBody>
      </p:sp>
      <p:sp>
        <p:nvSpPr>
          <p:cNvPr id="14" name="Shape 11"/>
          <p:cNvSpPr/>
          <p:nvPr/>
        </p:nvSpPr>
        <p:spPr>
          <a:xfrm>
            <a:off x="3127248" y="2148840"/>
            <a:ext cx="233172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355848" y="2331720"/>
            <a:ext cx="502920" cy="502920"/>
          </a:xfrm>
          <a:prstGeom prst="ellipse">
            <a:avLst/>
          </a:prstGeom>
          <a:solidFill>
            <a:srgbClr val="FFF7ED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432" y="2432304"/>
            <a:ext cx="301752" cy="30175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995928" y="2441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477256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12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12" dirty="0"/>
          </a:p>
        </p:txBody>
      </p:sp>
      <p:sp>
        <p:nvSpPr>
          <p:cNvPr id="19" name="Shape 15"/>
          <p:cNvSpPr/>
          <p:nvPr/>
        </p:nvSpPr>
        <p:spPr>
          <a:xfrm>
            <a:off x="5751576" y="2148840"/>
            <a:ext cx="233172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980176" y="2331720"/>
            <a:ext cx="502920" cy="502920"/>
          </a:xfrm>
          <a:prstGeom prst="ellipse">
            <a:avLst/>
          </a:prstGeom>
          <a:solidFill>
            <a:srgbClr val="FFF7ED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2432304"/>
            <a:ext cx="301752" cy="30175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620256" y="2441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8101584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12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12" dirty="0"/>
          </a:p>
        </p:txBody>
      </p:sp>
      <p:sp>
        <p:nvSpPr>
          <p:cNvPr id="24" name="Shape 19"/>
          <p:cNvSpPr/>
          <p:nvPr/>
        </p:nvSpPr>
        <p:spPr>
          <a:xfrm>
            <a:off x="8375904" y="2148840"/>
            <a:ext cx="233172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8604504" y="2331720"/>
            <a:ext cx="502920" cy="502920"/>
          </a:xfrm>
          <a:prstGeom prst="ellipse">
            <a:avLst/>
          </a:prstGeom>
          <a:solidFill>
            <a:srgbClr val="FFF7ED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088" y="2432304"/>
            <a:ext cx="301752" cy="30175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244584" y="2441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Amélioration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502920" y="36301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boucle continue : chaque incident nourrit le prochain correctif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502920" y="416052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704088" y="4361688"/>
            <a:ext cx="502920" cy="50292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4462272"/>
            <a:ext cx="301752" cy="30175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344168" y="44165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Observabilité d'abord</a:t>
            </a:r>
            <a:endParaRPr lang="en-US" sz="1500" dirty="0"/>
          </a:p>
        </p:txBody>
      </p:sp>
      <p:sp>
        <p:nvSpPr>
          <p:cNvPr id="33" name="Text 26"/>
          <p:cNvSpPr/>
          <p:nvPr/>
        </p:nvSpPr>
        <p:spPr>
          <a:xfrm>
            <a:off x="722376" y="5029200"/>
            <a:ext cx="3127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Logs, métriques, traces : les bonnes questions doivent trouver leurs réponses sans escalade.</a:t>
            </a:r>
            <a:endParaRPr lang="en-US" sz="1250" dirty="0"/>
          </a:p>
        </p:txBody>
      </p:sp>
      <p:sp>
        <p:nvSpPr>
          <p:cNvPr id="34" name="Shape 27"/>
          <p:cNvSpPr/>
          <p:nvPr/>
        </p:nvSpPr>
        <p:spPr>
          <a:xfrm>
            <a:off x="4343400" y="416052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4544568" y="4361688"/>
            <a:ext cx="502920" cy="50292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4462272"/>
            <a:ext cx="301752" cy="30175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5184648" y="44165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utiles</a:t>
            </a:r>
            <a:endParaRPr lang="en-US" sz="1500" dirty="0"/>
          </a:p>
        </p:txBody>
      </p:sp>
      <p:sp>
        <p:nvSpPr>
          <p:cNvPr id="38" name="Text 30"/>
          <p:cNvSpPr/>
          <p:nvPr/>
        </p:nvSpPr>
        <p:spPr>
          <a:xfrm>
            <a:off x="4562856" y="5029200"/>
            <a:ext cx="3127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 d'alertes, mais fiables et actionnables — l'alerte silencieuse est une dette.</a:t>
            </a:r>
            <a:endParaRPr lang="en-US" sz="1250" dirty="0"/>
          </a:p>
        </p:txBody>
      </p:sp>
      <p:sp>
        <p:nvSpPr>
          <p:cNvPr id="39" name="Shape 31"/>
          <p:cNvSpPr/>
          <p:nvPr/>
        </p:nvSpPr>
        <p:spPr>
          <a:xfrm>
            <a:off x="8183880" y="416052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40" name="Shape 32"/>
          <p:cNvSpPr/>
          <p:nvPr/>
        </p:nvSpPr>
        <p:spPr>
          <a:xfrm>
            <a:off x="8385048" y="4361688"/>
            <a:ext cx="502920" cy="50292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5632" y="4462272"/>
            <a:ext cx="301752" cy="301752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9025128" y="44165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Post-mortem blameless</a:t>
            </a:r>
            <a:endParaRPr lang="en-US" sz="1500" dirty="0"/>
          </a:p>
        </p:txBody>
      </p:sp>
      <p:sp>
        <p:nvSpPr>
          <p:cNvPr id="43" name="Text 34"/>
          <p:cNvSpPr/>
          <p:nvPr/>
        </p:nvSpPr>
        <p:spPr>
          <a:xfrm>
            <a:off x="8403336" y="5029200"/>
            <a:ext cx="3127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un incident : comprendre le système, pas désigner un coupable.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"/>
            <a:ext cx="1216152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858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VOIE 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4632" y="96012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L'apprentissage : expérimenter sans peur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1691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équipe qui n'a pas le droit à l'erreur n'innove pas — elle se protège.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3566160" cy="2651760"/>
          </a:xfrm>
          <a:prstGeom prst="roundRect">
            <a:avLst>
              <a:gd name="adj" fmla="val 4138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04088" y="2121408"/>
            <a:ext cx="502920" cy="502920"/>
          </a:xfrm>
          <a:prstGeom prst="ellipse">
            <a:avLst/>
          </a:prstGeom>
          <a:solidFill>
            <a:srgbClr val="F5F3FF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221992"/>
            <a:ext cx="301752" cy="30175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344168" y="21762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Expérimentation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22376" y="2788920"/>
            <a:ext cx="312724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des hypothèses en conditions réelles : feature flags, déploiements progressifs, A/B.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343400" y="1920240"/>
            <a:ext cx="3566160" cy="2651760"/>
          </a:xfrm>
          <a:prstGeom prst="roundRect">
            <a:avLst>
              <a:gd name="adj" fmla="val 4138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44568" y="2121408"/>
            <a:ext cx="502920" cy="502920"/>
          </a:xfrm>
          <a:prstGeom prst="ellipse">
            <a:avLst/>
          </a:prstGeom>
          <a:solidFill>
            <a:srgbClr val="F5F3F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152" y="2221992"/>
            <a:ext cx="301752" cy="30175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184648" y="21762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Chaos engineering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4562856" y="2788920"/>
            <a:ext cx="312724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Casser volontairement en conditions contrôlées pour découvrir les faiblesses avant la panne.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8183880" y="1920240"/>
            <a:ext cx="3566160" cy="2651760"/>
          </a:xfrm>
          <a:prstGeom prst="roundRect">
            <a:avLst>
              <a:gd name="adj" fmla="val 4138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385048" y="2121408"/>
            <a:ext cx="502920" cy="502920"/>
          </a:xfrm>
          <a:prstGeom prst="ellipse">
            <a:avLst/>
          </a:prstGeom>
          <a:solidFill>
            <a:srgbClr val="F5F3FF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2221992"/>
            <a:ext cx="301752" cy="30175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025128" y="21762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Amélioration continue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8403336" y="2788920"/>
            <a:ext cx="312724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Rétrospectives, kaizen : chaque itération laisse le système un peu meilleur.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502920" y="4937760"/>
            <a:ext cx="11155680" cy="1234440"/>
          </a:xfrm>
          <a:prstGeom prst="roundRect">
            <a:avLst>
              <a:gd name="adj" fmla="val 8889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25" name="Text 20"/>
          <p:cNvSpPr/>
          <p:nvPr/>
        </p:nvSpPr>
        <p:spPr>
          <a:xfrm>
            <a:off x="731520" y="5166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juste :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2606040" y="51663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erreur est d'abord une information sur le système. On corrige le processus, pas la personne — sauf faute volontaire ou négligence répétée.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"/>
            <a:ext cx="1216152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858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POINT DE DÉPART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4632" y="96012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Puppet à l'infra moderne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1920240"/>
            <a:ext cx="5440680" cy="3291840"/>
          </a:xfrm>
          <a:prstGeom prst="roundRect">
            <a:avLst>
              <a:gd name="adj" fmla="val 3333"/>
            </a:avLst>
          </a:prstGeom>
          <a:solidFill>
            <a:srgbClr val="FFFBEB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 : Puppet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578608"/>
            <a:ext cx="4983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/ maître, pull périodique (30 min)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Manifestes déclaratifs, idempotence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en VMs, long cycle de vie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Changements planifiés (fenêtres, comités)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 central, logs d'exécution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1920240"/>
            <a:ext cx="5440680" cy="3291840"/>
          </a:xfrm>
          <a:prstGeom prst="roundRect">
            <a:avLst>
              <a:gd name="adj" fmla="val 3333"/>
            </a:avLst>
          </a:prstGeom>
          <a:solidFill>
            <a:srgbClr val="CCFBF1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4652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: conteneurs + GitOps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46520" y="2578608"/>
            <a:ext cx="4983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Conteneurs immuables : l'image est le binaire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: Terraform / Ansible — le git est la source de vérité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éphémère, reproductible à l'identique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continu par pipeline (CI/CD)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Déclaratif + idempotent : la logique Puppet reste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5486400"/>
            <a:ext cx="11155680" cy="731520"/>
          </a:xfrm>
          <a:prstGeom prst="roundRect">
            <a:avLst>
              <a:gd name="adj" fmla="val 15000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" y="568756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garde la rigueur de Puppet — déclaratif, idempotence, automatisation — on gagne la vitesse, l'immuabilité et la traçabilité git.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"/>
            <a:ext cx="1216152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858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PIÈGES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4632" y="96012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DevOps n'est pas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187452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EF2F2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103120"/>
            <a:ext cx="548640" cy="54864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212848"/>
            <a:ext cx="329184" cy="32918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63040" y="2167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un métier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58952" y="278892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n'existe pas de « devops » isolé : c'est une culture partagée par toute l'équipe.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72200" y="187452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EF2F2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2103120"/>
            <a:ext cx="548640" cy="54864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2212848"/>
            <a:ext cx="329184" cy="32918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0" y="2167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une équipe séparée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6428232" y="278892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« équipe DevOps » qui fait tout crée un nouveau silo — et un goulot.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502920" y="411480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EF2F2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31520" y="4343400"/>
            <a:ext cx="548640" cy="54864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453128"/>
            <a:ext cx="329184" cy="32918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463040" y="440740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que des outils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758952" y="502920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Docker, Jenkins ou Ansible sans culture ni process, c'est de la dette en plus.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172200" y="411480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EF2F2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0" y="4343400"/>
            <a:ext cx="548640" cy="54864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4453128"/>
            <a:ext cx="329184" cy="32918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132320" y="440740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l'absence de process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6428232" y="502920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Automatiser suppose des process clairs. Le DevOps renforce les garde-fous, il ne les supprime pas.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"/>
            <a:ext cx="1216152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858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BOÎTE À OUTILS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4632" y="96012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Pratiques clés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187452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04088" y="2075688"/>
            <a:ext cx="502920" cy="502920"/>
          </a:xfrm>
          <a:prstGeom prst="ellipse">
            <a:avLst/>
          </a:prstGeom>
          <a:solidFill>
            <a:srgbClr val="EFF6FF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176272"/>
            <a:ext cx="301752" cy="30175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44168" y="21305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22376" y="2743200"/>
            <a:ext cx="31272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et déploiement continus : tout commit passe par le pipeline.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297680" y="187452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498848" y="2075688"/>
            <a:ext cx="502920" cy="502920"/>
          </a:xfrm>
          <a:prstGeom prst="ellipse">
            <a:avLst/>
          </a:prstGeom>
          <a:solidFill>
            <a:srgbClr val="EFF6F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432" y="2176272"/>
            <a:ext cx="301752" cy="30175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138928" y="21305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Conteneurs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4517136" y="2743200"/>
            <a:ext cx="31272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 standard : même runtime en dev, en test et en prod.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8092440" y="187452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93608" y="2075688"/>
            <a:ext cx="502920" cy="502920"/>
          </a:xfrm>
          <a:prstGeom prst="ellipse">
            <a:avLst/>
          </a:prstGeom>
          <a:solidFill>
            <a:srgbClr val="EFF6FF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176272"/>
            <a:ext cx="301752" cy="30175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933688" y="21305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8311896" y="2743200"/>
            <a:ext cx="31272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en code : versionnée, relue, reproductible.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502920" y="41148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04088" y="4315968"/>
            <a:ext cx="502920" cy="502920"/>
          </a:xfrm>
          <a:prstGeom prst="ellipse">
            <a:avLst/>
          </a:prstGeom>
          <a:solidFill>
            <a:srgbClr val="EFF6FF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416552"/>
            <a:ext cx="301752" cy="30175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344168" y="43708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Observabilité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722376" y="4983480"/>
            <a:ext cx="31272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Logs, métriques, traces : savoir ce qui se passe sans deviner.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4297680" y="41148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498848" y="4315968"/>
            <a:ext cx="502920" cy="502920"/>
          </a:xfrm>
          <a:prstGeom prst="ellipse">
            <a:avLst/>
          </a:prstGeom>
          <a:solidFill>
            <a:srgbClr val="EFF6FF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9432" y="4416552"/>
            <a:ext cx="301752" cy="30175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138928" y="43708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Revue de code</a:t>
            </a:r>
            <a:endParaRPr lang="en-US" sz="1500" dirty="0"/>
          </a:p>
        </p:txBody>
      </p:sp>
      <p:sp>
        <p:nvSpPr>
          <p:cNvPr id="32" name="Text 25"/>
          <p:cNvSpPr/>
          <p:nvPr/>
        </p:nvSpPr>
        <p:spPr>
          <a:xfrm>
            <a:off x="4517136" y="4983480"/>
            <a:ext cx="31272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changement est relu — la qualité se décide avant le merge.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092440" y="41148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293608" y="4315968"/>
            <a:ext cx="502920" cy="502920"/>
          </a:xfrm>
          <a:prstGeom prst="ellipse">
            <a:avLst/>
          </a:prstGeom>
          <a:solidFill>
            <a:srgbClr val="EFF6FF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4192" y="4416552"/>
            <a:ext cx="301752" cy="301752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8933688" y="43708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Trunk-based</a:t>
            </a:r>
            <a:endParaRPr lang="en-US" sz="1500" dirty="0"/>
          </a:p>
        </p:txBody>
      </p:sp>
      <p:sp>
        <p:nvSpPr>
          <p:cNvPr id="37" name="Text 29"/>
          <p:cNvSpPr/>
          <p:nvPr/>
        </p:nvSpPr>
        <p:spPr>
          <a:xfrm>
            <a:off x="8311896" y="4983480"/>
            <a:ext cx="31272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 courtes, merges fréquents, pas de branches qui vivent des semaines.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"/>
            <a:ext cx="1216152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858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4632" y="96012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4 métriques DORA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1920240"/>
            <a:ext cx="267004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920240"/>
            <a:ext cx="64008" cy="2377440"/>
          </a:xfrm>
          <a:prstGeom prst="rect">
            <a:avLst>
              <a:gd name="adj" fmla="val 28571"/>
            </a:avLst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029968"/>
            <a:ext cx="2350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la demande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85800" y="2724912"/>
            <a:ext cx="2350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Frequency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" y="379476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1–6 mois (low performers)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28416" y="1920240"/>
            <a:ext cx="267004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28416" y="1920240"/>
            <a:ext cx="64008" cy="2377440"/>
          </a:xfrm>
          <a:prstGeom prst="rect">
            <a:avLst>
              <a:gd name="adj" fmla="val 28571"/>
            </a:avLst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3511296" y="2029968"/>
            <a:ext cx="2350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jour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511296" y="2724912"/>
            <a:ext cx="2350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for Changes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511296" y="379476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1–6 mois (low performers)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53912" y="1920240"/>
            <a:ext cx="267004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53912" y="1920240"/>
            <a:ext cx="64008" cy="2377440"/>
          </a:xfrm>
          <a:prstGeom prst="rect">
            <a:avLst>
              <a:gd name="adj" fmla="val 28571"/>
            </a:avLst>
          </a:prstGeom>
          <a:solidFill>
            <a:srgbClr val="15803D"/>
          </a:solidFill>
          <a:ln/>
        </p:spPr>
      </p:sp>
      <p:sp>
        <p:nvSpPr>
          <p:cNvPr id="20" name="Text 18"/>
          <p:cNvSpPr/>
          <p:nvPr/>
        </p:nvSpPr>
        <p:spPr>
          <a:xfrm>
            <a:off x="6336792" y="2029968"/>
            <a:ext cx="2350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0–15 %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336792" y="2724912"/>
            <a:ext cx="2350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Failure Rate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36792" y="379476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46–60 % (low performers)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979408" y="1920240"/>
            <a:ext cx="267004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979408" y="1920240"/>
            <a:ext cx="64008" cy="2377440"/>
          </a:xfrm>
          <a:prstGeom prst="rect">
            <a:avLst>
              <a:gd name="adj" fmla="val 28571"/>
            </a:avLst>
          </a:prstGeom>
          <a:solidFill>
            <a:srgbClr val="6D28D9"/>
          </a:solidFill>
          <a:ln/>
        </p:spPr>
      </p:sp>
      <p:sp>
        <p:nvSpPr>
          <p:cNvPr id="25" name="Text 23"/>
          <p:cNvSpPr/>
          <p:nvPr/>
        </p:nvSpPr>
        <p:spPr>
          <a:xfrm>
            <a:off x="9162288" y="2029968"/>
            <a:ext cx="2350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h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9162288" y="2724912"/>
            <a:ext cx="2350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— temps de récupération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162288" y="379476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plus d'une semaine (low)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02920" y="4617720"/>
            <a:ext cx="11155680" cy="13716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31520" y="484632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tendre vers le profil « high performer » sur les 4 axes.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31520" y="53035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: ces métriques se lisent en tendance, pas en absolu — et elles n'ont de sens que si elles ne poussent pas l'équipe à tricher.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02920" y="6126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DORA, State of DevOps — métriques standard de la performance logicielle.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"/>
            <a:ext cx="1216152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858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4632" y="96012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&amp; structure d'équipe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1920240"/>
            <a:ext cx="5440680" cy="3383280"/>
          </a:xfrm>
          <a:prstGeom prst="roundRect">
            <a:avLst>
              <a:gd name="adj" fmla="val 3243"/>
            </a:avLst>
          </a:prstGeom>
          <a:solidFill>
            <a:srgbClr val="F0FDF4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qui marchent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578608"/>
            <a:ext cx="4983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team : une équipe outille, les autres consomment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: focus fiabilité, avec des objectifs de service (SLO)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teams autonomes : déploient leur propre code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en conseil : garde-fous, standards, accompagnement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1920240"/>
            <a:ext cx="5440680" cy="3383280"/>
          </a:xfrm>
          <a:prstGeom prst="roundRect">
            <a:avLst>
              <a:gd name="adj" fmla="val 3243"/>
            </a:avLst>
          </a:prstGeom>
          <a:solidFill>
            <a:srgbClr val="FEF2F2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4652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46520" y="2578608"/>
            <a:ext cx="4983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« équipe DevOps » séparée qui fait tout : nouveau silo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= guichet à tickets, jamais consulté en amont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Déploiements réservés à une poignée de personnes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ne mesure — on « sent » que ça va mieux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5577840"/>
            <a:ext cx="11155680" cy="731520"/>
          </a:xfrm>
          <a:prstGeom prst="roundRect">
            <a:avLst>
              <a:gd name="adj" fmla="val 15000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" y="57607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culture prime sur l'organigramme : la structure ne fait pas le DevOps, elle l'accompagne.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"/>
            <a:ext cx="1216152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858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CONCRET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4632" y="96012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de vie d'un changement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1691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même changement, avant et après.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FEF2F2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2660904"/>
            <a:ext cx="292608" cy="292608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6609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34440" y="26060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+ comité de validation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" y="3282696"/>
            <a:ext cx="292608" cy="292608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34440" y="3227832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Fenêtre de maintenance réservée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" y="3904488"/>
            <a:ext cx="292608" cy="292608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34440" y="384962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exécuté à la main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77240" y="4526280"/>
            <a:ext cx="292608" cy="292608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526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34440" y="447141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manuelle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5148072"/>
            <a:ext cx="292608" cy="292608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34440" y="50932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Rien n'est réutilisable tel quel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17920" y="192024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F0FDF4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4652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92240" y="2660904"/>
            <a:ext cx="292608" cy="292608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29" name="Text 27"/>
          <p:cNvSpPr/>
          <p:nvPr/>
        </p:nvSpPr>
        <p:spPr>
          <a:xfrm>
            <a:off x="6492240" y="26609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949440" y="26060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+ revue de code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92240" y="3282696"/>
            <a:ext cx="292608" cy="292608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49440" y="3227832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: tests et builds automatiques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92240" y="3904488"/>
            <a:ext cx="292608" cy="292608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35" name="Text 33"/>
          <p:cNvSpPr/>
          <p:nvPr/>
        </p:nvSpPr>
        <p:spPr>
          <a:xfrm>
            <a:off x="6492240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949440" y="384962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automatisé par pipeline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92240" y="4526280"/>
            <a:ext cx="292608" cy="292608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38" name="Text 36"/>
          <p:cNvSpPr/>
          <p:nvPr/>
        </p:nvSpPr>
        <p:spPr>
          <a:xfrm>
            <a:off x="6492240" y="4526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949440" y="447141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: métriques + alertes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92240" y="5148072"/>
            <a:ext cx="292608" cy="292608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41" name="Text 39"/>
          <p:cNvSpPr/>
          <p:nvPr/>
        </p:nvSpPr>
        <p:spPr>
          <a:xfrm>
            <a:off x="6492240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949440" y="50932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en un clic si besoin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"/>
            <a:ext cx="1216152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858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4632" y="96012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premiers pas pour l'équipe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1691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Concrets, mesurables, réalisables dans les prochaines semaines.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783080"/>
            <a:ext cx="11155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1956816"/>
            <a:ext cx="402336" cy="402336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956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186537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Automatiser un déploiement récurrent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2185416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plus douloureux d'abord : celui qu'on redoute le vendredi soir.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2633472"/>
            <a:ext cx="11155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2807208"/>
            <a:ext cx="402336" cy="402336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807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71600" y="271576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les configurations sous Git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035808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ce qui décrit le système versionné, avec revues obligatoires.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483864"/>
            <a:ext cx="11155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3657600"/>
            <a:ext cx="402336" cy="402336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657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71600" y="35661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pipeline CI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71600" y="3886200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Gitea Actions : build + tests à chaque commit.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4334256"/>
            <a:ext cx="11155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31520" y="4507992"/>
            <a:ext cx="402336" cy="402336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507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371600" y="441655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Observabilité minimale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4736592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centralisés + 2-3 métriques clés + alertes.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5184648"/>
            <a:ext cx="11155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31520" y="5358384"/>
            <a:ext cx="402336" cy="402336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5358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371600" y="526694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Post-mortem blameless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371600" y="5586984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chaque incident : chronologie, causes, actions — sans coupable.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02920" y="6035040"/>
            <a:ext cx="11155680" cy="384048"/>
          </a:xfrm>
          <a:prstGeom prst="roundRect">
            <a:avLst>
              <a:gd name="adj" fmla="val 2857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A4A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31520" y="610819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Commencez petit, mesurez, itérez.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RÉSUMÉ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82296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clés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039112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96596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est une culture et des pratiques — pas un outil, pas un poste.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715768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3 voies : flux (vite en prod), feedback (visible depuis la prod), apprentissage.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538728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346557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atout : la rigueur Puppet (déclaratif, idempotent) se transpose au monde conteneur.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288536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288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21538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mesure avec les 4 métriques DORA : fréquence, lead time, échecs, récupération.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5038344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38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4965192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changement se fait par petits pas concrets, mesurés, sans réorganiser l'équipe.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338560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0680" y="1097280"/>
            <a:ext cx="1280160" cy="1280160"/>
          </a:xfrm>
          <a:prstGeom prst="ellipse">
            <a:avLst/>
          </a:prstGeom>
          <a:solidFill>
            <a:srgbClr val="2A3A6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6712" y="1353312"/>
            <a:ext cx="768096" cy="7680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84632" y="27432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02920" y="374904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 module : Linux &amp; shell pour ops — systemd, journald, réseau, conteneurs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02920" y="45720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questions ?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02920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 — Culture DevOps</dc:title>
  <dc:subject>Formation DevOps</dc:subject>
  <dc:creator>Formation DevOps</dc:creator>
  <cp:lastModifiedBy>Formation DevOps</cp:lastModifiedBy>
  <cp:revision>1</cp:revision>
  <dcterms:created xsi:type="dcterms:W3CDTF">2026-08-06T18:27:45Z</dcterms:created>
  <dcterms:modified xsi:type="dcterms:W3CDTF">2026-08-06T18:27:45Z</dcterms:modified>
</cp:coreProperties>
</file>